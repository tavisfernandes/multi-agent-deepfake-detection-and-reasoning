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8"/>
  </p:notesMasterIdLst>
  <p:handoutMasterIdLst>
    <p:handoutMasterId r:id="rId19"/>
  </p:handoutMasterIdLst>
  <p:sldIdLst>
    <p:sldId id="266" r:id="rId2"/>
    <p:sldId id="267" r:id="rId3"/>
    <p:sldId id="268" r:id="rId4"/>
    <p:sldId id="281" r:id="rId5"/>
    <p:sldId id="280" r:id="rId6"/>
    <p:sldId id="279" r:id="rId7"/>
    <p:sldId id="278" r:id="rId8"/>
    <p:sldId id="277" r:id="rId9"/>
    <p:sldId id="276" r:id="rId10"/>
    <p:sldId id="275" r:id="rId11"/>
    <p:sldId id="274" r:id="rId12"/>
    <p:sldId id="273" r:id="rId13"/>
    <p:sldId id="272" r:id="rId14"/>
    <p:sldId id="271" r:id="rId15"/>
    <p:sldId id="270" r:id="rId16"/>
    <p:sldId id="269"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6062"/>
    <a:srgbClr val="DA3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p:cViewPr varScale="1">
        <p:scale>
          <a:sx n="89" d="100"/>
          <a:sy n="89" d="100"/>
        </p:scale>
        <p:origin x="466" y="72"/>
      </p:cViewPr>
      <p:guideLst>
        <p:guide orient="horz" pos="2160"/>
        <p:guide pos="3840"/>
      </p:guideLst>
    </p:cSldViewPr>
  </p:slideViewPr>
  <p:notesTextViewPr>
    <p:cViewPr>
      <p:scale>
        <a:sx n="100" d="100"/>
        <a:sy n="100" d="100"/>
      </p:scale>
      <p:origin x="0" y="0"/>
    </p:cViewPr>
  </p:notesTextViewPr>
  <p:notesViewPr>
    <p:cSldViewPr>
      <p:cViewPr varScale="1">
        <p:scale>
          <a:sx n="53" d="100"/>
          <a:sy n="53" d="100"/>
        </p:scale>
        <p:origin x="279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6D40C89-1D2E-42C9-AD79-5E024A5F6A11}" type="datetimeFigureOut">
              <a:rPr lang="en-US" smtClean="0"/>
              <a:pPr/>
              <a:t>10/24/2026</a:t>
            </a:fld>
            <a:endParaRPr lang="en-US" dirty="0"/>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5CA20F1-9B12-4236-A14C-758ACCB4D1AF}" type="slidenum">
              <a:rPr lang="en-US" smtClean="0"/>
              <a:pPr/>
              <a:t>‹#›</a:t>
            </a:fld>
            <a:endParaRPr lang="en-US" dirty="0"/>
          </a:p>
        </p:txBody>
      </p:sp>
    </p:spTree>
    <p:extLst>
      <p:ext uri="{BB962C8B-B14F-4D97-AF65-F5344CB8AC3E}">
        <p14:creationId xmlns:p14="http://schemas.microsoft.com/office/powerpoint/2010/main" val="55236087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7B61CB86-BEE3-4DB7-A266-59DAD553B236}" type="datetimeFigureOut">
              <a:rPr lang="en-IN" smtClean="0"/>
              <a:pPr/>
              <a:t>24-10-2026</a:t>
            </a:fld>
            <a:endParaRPr lang="en-IN"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IN"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IN"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307C1086-E94F-44D0-9E39-85AA8FC12ABE}" type="slidenum">
              <a:rPr lang="en-IN" smtClean="0"/>
              <a:pPr/>
              <a:t>‹#›</a:t>
            </a:fld>
            <a:endParaRPr lang="en-IN" dirty="0"/>
          </a:p>
        </p:txBody>
      </p:sp>
    </p:spTree>
    <p:extLst>
      <p:ext uri="{BB962C8B-B14F-4D97-AF65-F5344CB8AC3E}">
        <p14:creationId xmlns:p14="http://schemas.microsoft.com/office/powerpoint/2010/main" val="54487469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Introduce the team, the mentor and the project title.</a:t>
            </a:r>
            <a:endParaRPr sz="1200" b="0" i="0" u="none" strike="noStrike" cap="none">
              <a:solidFill>
                <a:schemeClr val="dk1"/>
              </a:solidFill>
              <a:latin typeface="Calibri"/>
              <a:ea typeface="Calibri"/>
              <a:cs typeface="Calibri"/>
              <a:sym typeface="Calibri"/>
            </a:endParaRPr>
          </a:p>
        </p:txBody>
      </p:sp>
      <p:sp>
        <p:nvSpPr>
          <p:cNvPr id="163" name="Google Shape;16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200" b="0" i="0" u="none" strike="noStrike" cap="none">
                <a:solidFill>
                  <a:schemeClr val="dk1"/>
                </a:solidFill>
                <a:latin typeface="Calibri"/>
                <a:ea typeface="Calibri"/>
                <a:cs typeface="Calibri"/>
                <a:sym typeface="Calibri"/>
              </a:rPr>
              <a:t>Outline of the talk.</a:t>
            </a:r>
            <a:endParaRPr sz="1200" b="0" i="0" u="none" strike="noStrike" cap="none">
              <a:solidFill>
                <a:schemeClr val="dk1"/>
              </a:solidFill>
              <a:latin typeface="Calibri"/>
              <a:ea typeface="Calibri"/>
              <a:cs typeface="Calibri"/>
              <a:sym typeface="Calibri"/>
            </a:endParaR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what a deepfake is and why one forgery can touch the face, the voice or both. The three cards are the three kinds of evidence VERITAS checks. Stress that uploaded media is almost always re-encoded, which is why robustness matters later in the talk.</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3</a:t>
            </a:fld>
            <a:endParaRPr lang="en-IN" dirty="0"/>
          </a:p>
        </p:txBody>
      </p:sp>
    </p:spTree>
    <p:extLst>
      <p:ext uri="{BB962C8B-B14F-4D97-AF65-F5344CB8AC3E}">
        <p14:creationId xmlns:p14="http://schemas.microsoft.com/office/powerpoint/2010/main" val="263272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problem statement once, then walk through the six objectives. Point out objective 6: every result in this talk says which data split it came from.</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4</a:t>
            </a:fld>
            <a:endParaRPr lang="en-IN" dirty="0"/>
          </a:p>
        </p:txBody>
      </p:sp>
    </p:spTree>
    <p:extLst>
      <p:ext uri="{BB962C8B-B14F-4D97-AF65-F5344CB8AC3E}">
        <p14:creationId xmlns:p14="http://schemas.microsoft.com/office/powerpoint/2010/main" val="2030057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qualitative comparison; the cited works used different datasets, so their numbers are not comparable with ours. The gap: single-modality detectors, binary decisions without abstention, and little measured robustness to re-encoding.</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5</a:t>
            </a:fld>
            <a:endParaRPr lang="en-IN" dirty="0"/>
          </a:p>
        </p:txBody>
      </p:sp>
    </p:spTree>
    <p:extLst>
      <p:ext uri="{BB962C8B-B14F-4D97-AF65-F5344CB8AC3E}">
        <p14:creationId xmlns:p14="http://schemas.microsoft.com/office/powerpoint/2010/main" val="1137417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Follow one upload top to bottom. The backend routes by file type, runs only the detectors that apply, streams each result, and fuses them. The context box is grey because it explains but never votes.</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6</a:t>
            </a:fld>
            <a:endParaRPr lang="en-IN" dirty="0"/>
          </a:p>
        </p:txBody>
      </p:sp>
    </p:spTree>
    <p:extLst>
      <p:ext uri="{BB962C8B-B14F-4D97-AF65-F5344CB8AC3E}">
        <p14:creationId xmlns:p14="http://schemas.microsoft.com/office/powerpoint/2010/main" val="848919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EfficientNet-B0 looks at one face crop. The production checkpoint was trained with compression, rescaling and blur augmentation and selected on robust AUC, so it stays usable on re-encoded uploads.</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7</a:t>
            </a:fld>
            <a:endParaRPr lang="en-IN" dirty="0"/>
          </a:p>
        </p:txBody>
      </p:sp>
    </p:spTree>
    <p:extLst>
      <p:ext uri="{BB962C8B-B14F-4D97-AF65-F5344CB8AC3E}">
        <p14:creationId xmlns:p14="http://schemas.microsoft.com/office/powerpoint/2010/main" val="1266521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R3D-18 looks at 16 frames over about 2 seconds. It is near-perfect on clean clips but was not trained with degradation augmentation, which is its main weakness.</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8</a:t>
            </a:fld>
            <a:endParaRPr lang="en-IN" dirty="0"/>
          </a:p>
        </p:txBody>
      </p:sp>
    </p:spTree>
    <p:extLst>
      <p:ext uri="{BB962C8B-B14F-4D97-AF65-F5344CB8AC3E}">
        <p14:creationId xmlns:p14="http://schemas.microsoft.com/office/powerpoint/2010/main" val="31238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 is always converted to 16 kHz mono first. The no-speech guard stops silence and pure tones from being scored. The context component only restates whether the visual and audio scores agree.</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9</a:t>
            </a:fld>
            <a:endParaRPr lang="en-IN" dirty="0"/>
          </a:p>
        </p:txBody>
      </p:sp>
    </p:spTree>
    <p:extLst>
      <p:ext uri="{BB962C8B-B14F-4D97-AF65-F5344CB8AC3E}">
        <p14:creationId xmlns:p14="http://schemas.microsoft.com/office/powerpoint/2010/main" val="88945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Visual scores are combined first, then visual and audio are treated as independent events. The 0.45 to 0.55 band is reported as inconclusive; no usable evidence gives Can't verify, never authentic.</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10</a:t>
            </a:fld>
            <a:endParaRPr lang="en-IN" dirty="0"/>
          </a:p>
        </p:txBody>
      </p:sp>
    </p:spTree>
    <p:extLst>
      <p:ext uri="{BB962C8B-B14F-4D97-AF65-F5344CB8AC3E}">
        <p14:creationId xmlns:p14="http://schemas.microsoft.com/office/powerpoint/2010/main" val="3684054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a real run: upload, four detector cards fill in as results stream, then the verdict, manipulation type and downloadable JSON report.</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11</a:t>
            </a:fld>
            <a:endParaRPr lang="en-IN" dirty="0"/>
          </a:p>
        </p:txBody>
      </p:sp>
    </p:spTree>
    <p:extLst>
      <p:ext uri="{BB962C8B-B14F-4D97-AF65-F5344CB8AC3E}">
        <p14:creationId xmlns:p14="http://schemas.microsoft.com/office/powerpoint/2010/main" val="2897936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numbers are on fusion_val, which was also used to pick the models, so they are development evidence. Left: spatial AUC under degradation. Right: system errors summed over five degraded scenarios.</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12</a:t>
            </a:fld>
            <a:endParaRPr lang="en-IN" dirty="0"/>
          </a:p>
        </p:txBody>
      </p:sp>
    </p:spTree>
    <p:extLst>
      <p:ext uri="{BB962C8B-B14F-4D97-AF65-F5344CB8AC3E}">
        <p14:creationId xmlns:p14="http://schemas.microsoft.com/office/powerpoint/2010/main" val="3765316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Temporal is the weak point: compression and blur cause false alarms, H.264 hides fakes. Every missed fake of the selected system is a fake-video, real-audio clip after heavy compression.</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13</a:t>
            </a:fld>
            <a:endParaRPr lang="en-IN" dirty="0"/>
          </a:p>
        </p:txBody>
      </p:sp>
    </p:spTree>
    <p:extLst>
      <p:ext uri="{BB962C8B-B14F-4D97-AF65-F5344CB8AC3E}">
        <p14:creationId xmlns:p14="http://schemas.microsoft.com/office/powerpoint/2010/main" val="4188587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Summarise what works end to end and the honest limits: development evidence only, temporal weakness, attribution weakens with compression. VERITAS supports human review; it is not forensic proof.</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14</a:t>
            </a:fld>
            <a:endParaRPr lang="en-IN" dirty="0"/>
          </a:p>
        </p:txBody>
      </p:sp>
    </p:spTree>
    <p:extLst>
      <p:ext uri="{BB962C8B-B14F-4D97-AF65-F5344CB8AC3E}">
        <p14:creationId xmlns:p14="http://schemas.microsoft.com/office/powerpoint/2010/main" val="58466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proposals, not completed work. The first two, temporal retraining and an independent evaluation set, matter most.</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15</a:t>
            </a:fld>
            <a:endParaRPr lang="en-IN" dirty="0"/>
          </a:p>
        </p:txBody>
      </p:sp>
    </p:spTree>
    <p:extLst>
      <p:ext uri="{BB962C8B-B14F-4D97-AF65-F5344CB8AC3E}">
        <p14:creationId xmlns:p14="http://schemas.microsoft.com/office/powerpoint/2010/main" val="1163716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Numbering follows the project report. Thank the mentor and institution.</a:t>
            </a:r>
            <a:endParaRPr lang="en-IN"/>
          </a:p>
        </p:txBody>
      </p:sp>
      <p:sp>
        <p:nvSpPr>
          <p:cNvPr id="4" name="Slide Number Placeholder 3"/>
          <p:cNvSpPr>
            <a:spLocks noGrp="1"/>
          </p:cNvSpPr>
          <p:nvPr>
            <p:ph type="sldNum" sz="quarter" idx="5"/>
          </p:nvPr>
        </p:nvSpPr>
        <p:spPr/>
        <p:txBody>
          <a:bodyPr/>
          <a:lstStyle/>
          <a:p>
            <a:fld id="{307C1086-E94F-44D0-9E39-85AA8FC12ABE}" type="slidenum">
              <a:rPr lang="en-IN" smtClean="0"/>
              <a:pPr/>
              <a:t>16</a:t>
            </a:fld>
            <a:endParaRPr lang="en-IN" dirty="0"/>
          </a:p>
        </p:txBody>
      </p:sp>
    </p:spTree>
    <p:extLst>
      <p:ext uri="{BB962C8B-B14F-4D97-AF65-F5344CB8AC3E}">
        <p14:creationId xmlns:p14="http://schemas.microsoft.com/office/powerpoint/2010/main" val="1190607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978960-B552-44AC-8204-0D58B7D9F8D5}" type="datetime1">
              <a:rPr lang="en-US" smtClean="0"/>
              <a:t>10/24/2026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8563089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2151" y="1342408"/>
            <a:ext cx="10515600" cy="873911"/>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2276871"/>
            <a:ext cx="10515600" cy="39000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1CC72-C4BC-44F6-A4B8-F073387FA3E8}" type="datetime1">
              <a:rPr lang="en-US" smtClean="0"/>
              <a:t>10/24/2026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2239367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522982-2ECF-49E2-803E-39684D079ECF}" type="datetime1">
              <a:rPr lang="en-US" smtClean="0"/>
              <a:t>10/24/2026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50110129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A58397-A5C8-45A3-9F3C-826B6662D586}" type="datetime1">
              <a:rPr lang="en-US" smtClean="0"/>
              <a:t>10/24/2026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800915900"/>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B2C4BE-9BD3-4C56-BD42-99EB99CF23D6}" type="datetime1">
              <a:rPr lang="en-US" smtClean="0"/>
              <a:t>10/24/2026</a:t>
            </a:fld>
            <a:endParaRPr lang="en-IN" dirty="0"/>
          </a:p>
        </p:txBody>
      </p:sp>
      <p:sp>
        <p:nvSpPr>
          <p:cNvPr id="8" name="Footer Placeholder 7"/>
          <p:cNvSpPr>
            <a:spLocks noGrp="1"/>
          </p:cNvSpPr>
          <p:nvPr>
            <p:ph type="ftr" sz="quarter" idx="11"/>
          </p:nvPr>
        </p:nvSpPr>
        <p:spPr/>
        <p:txBody>
          <a:bodyPr/>
          <a:lstStyle/>
          <a:p>
            <a:r>
              <a:rPr lang="en-US"/>
              <a:t>Capstone Project Review, AY 25-26, STME, NMIMS Navi Mumbai</a:t>
            </a:r>
            <a:endParaRPr lang="en-IN" dirty="0"/>
          </a:p>
        </p:txBody>
      </p:sp>
      <p:sp>
        <p:nvSpPr>
          <p:cNvPr id="9" name="Slide Number Placeholder 8"/>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59610156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EB1AC14-9341-4C43-889D-F1AB646BCFDE}" type="datetime1">
              <a:rPr lang="en-US" smtClean="0"/>
              <a:t>10/24/2026</a:t>
            </a:fld>
            <a:endParaRPr lang="en-IN" dirty="0"/>
          </a:p>
        </p:txBody>
      </p:sp>
      <p:sp>
        <p:nvSpPr>
          <p:cNvPr id="4" name="Footer Placeholder 3"/>
          <p:cNvSpPr>
            <a:spLocks noGrp="1"/>
          </p:cNvSpPr>
          <p:nvPr>
            <p:ph type="ftr" sz="quarter" idx="11"/>
          </p:nvPr>
        </p:nvSpPr>
        <p:spPr/>
        <p:txBody>
          <a:bodyPr/>
          <a:lstStyle/>
          <a:p>
            <a:r>
              <a:rPr lang="en-US"/>
              <a:t>Capstone Project Review, AY 25-26, STME, NMIMS Navi Mumbai</a:t>
            </a:r>
            <a:endParaRPr lang="en-IN" dirty="0"/>
          </a:p>
        </p:txBody>
      </p:sp>
      <p:sp>
        <p:nvSpPr>
          <p:cNvPr id="5" name="Slide Number Placeholder 4"/>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6699268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AEBA16-2656-4F7D-ABD2-9F6D44E5E133}" type="datetime1">
              <a:rPr lang="en-US" smtClean="0"/>
              <a:t>10/24/2026</a:t>
            </a:fld>
            <a:endParaRPr lang="en-IN" dirty="0"/>
          </a:p>
        </p:txBody>
      </p:sp>
      <p:sp>
        <p:nvSpPr>
          <p:cNvPr id="3" name="Footer Placeholder 2"/>
          <p:cNvSpPr>
            <a:spLocks noGrp="1"/>
          </p:cNvSpPr>
          <p:nvPr>
            <p:ph type="ftr" sz="quarter" idx="11"/>
          </p:nvPr>
        </p:nvSpPr>
        <p:spPr/>
        <p:txBody>
          <a:bodyPr/>
          <a:lstStyle/>
          <a:p>
            <a:r>
              <a:rPr lang="en-US"/>
              <a:t>Capstone Project Review, AY 25-26, STME, NMIMS Navi Mumbai</a:t>
            </a:r>
            <a:endParaRPr lang="en-IN" dirty="0"/>
          </a:p>
        </p:txBody>
      </p:sp>
      <p:sp>
        <p:nvSpPr>
          <p:cNvPr id="4" name="Slide Number Placeholder 3"/>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64632506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D65B27-835E-4215-B91B-885E1016A47B}" type="datetime1">
              <a:rPr lang="en-US" smtClean="0"/>
              <a:t>10/24/2026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92185736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B2C77F-DFBE-4F62-96A0-F702CC47EC96}" type="datetime1">
              <a:rPr lang="en-US" smtClean="0"/>
              <a:t>10/24/2026</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78724050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049446-9A6E-4F36-BB48-EE6F0348B30A}" type="datetime1">
              <a:rPr lang="en-US" smtClean="0"/>
              <a:t>10/24/2026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93125406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51C186-B3DB-44CA-9B97-B6325990F615}" type="datetime1">
              <a:rPr lang="en-US" smtClean="0"/>
              <a:t>10/24/2026</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1758253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7844" y="86485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34B4AA-F46E-45E4-A043-C77A70EF94D1}" type="datetime1">
              <a:rPr lang="en-US" smtClean="0"/>
              <a:t>10/24/2026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Capstone Project Review, AY 25-26, STME, NMIMS Navi Mumbai</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41890-78B1-446D-ACB8-09DB24EB6BC7}" type="slidenum">
              <a:rPr lang="en-IN" smtClean="0"/>
              <a:pPr/>
              <a:t>‹#›</a:t>
            </a:fld>
            <a:endParaRPr lang="en-IN" dirty="0"/>
          </a:p>
        </p:txBody>
      </p:sp>
      <p:sp>
        <p:nvSpPr>
          <p:cNvPr id="8" name="Rectangle 7"/>
          <p:cNvSpPr/>
          <p:nvPr userDrawn="1"/>
        </p:nvSpPr>
        <p:spPr>
          <a:xfrm>
            <a:off x="0" y="-13692"/>
            <a:ext cx="12211288" cy="70638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209364" y="293871"/>
            <a:ext cx="6744072" cy="858202"/>
            <a:chOff x="119336" y="1512082"/>
            <a:chExt cx="6479501" cy="858202"/>
          </a:xfrm>
          <a:effectLst>
            <a:outerShdw blurRad="50800" dist="76200" dir="2700000" algn="tl" rotWithShape="0">
              <a:prstClr val="black">
                <a:alpha val="70000"/>
              </a:prstClr>
            </a:outerShdw>
          </a:effectLst>
        </p:grpSpPr>
        <p:sp>
          <p:nvSpPr>
            <p:cNvPr id="10" name="Rounded Rectangle 9"/>
            <p:cNvSpPr/>
            <p:nvPr/>
          </p:nvSpPr>
          <p:spPr>
            <a:xfrm>
              <a:off x="119336" y="1512082"/>
              <a:ext cx="6479501" cy="85820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1344" y="1565710"/>
              <a:ext cx="1872208" cy="786194"/>
            </a:xfrm>
            <a:prstGeom prst="rect">
              <a:avLst/>
            </a:prstGeom>
            <a:ln>
              <a:noFill/>
            </a:ln>
          </p:spPr>
        </p:pic>
      </p:grpSp>
      <p:sp>
        <p:nvSpPr>
          <p:cNvPr id="12" name="Title 1"/>
          <p:cNvSpPr txBox="1">
            <a:spLocks/>
          </p:cNvSpPr>
          <p:nvPr userDrawn="1"/>
        </p:nvSpPr>
        <p:spPr>
          <a:xfrm>
            <a:off x="2285806" y="319528"/>
            <a:ext cx="4495852"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b="1" dirty="0">
                <a:solidFill>
                  <a:srgbClr val="606062"/>
                </a:solidFill>
                <a:latin typeface="Arial Narrow" panose="020B0606020202030204" pitchFamily="34" charset="0"/>
              </a:rPr>
              <a:t>School of Technology Management &amp; Engineering | Navi Mumbai</a:t>
            </a:r>
          </a:p>
        </p:txBody>
      </p:sp>
      <p:sp>
        <p:nvSpPr>
          <p:cNvPr id="13" name="Rectangle 12"/>
          <p:cNvSpPr/>
          <p:nvPr userDrawn="1"/>
        </p:nvSpPr>
        <p:spPr>
          <a:xfrm>
            <a:off x="0" y="6772945"/>
            <a:ext cx="12211288" cy="8505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p:cNvCxnSpPr/>
          <p:nvPr userDrawn="1"/>
        </p:nvCxnSpPr>
        <p:spPr>
          <a:xfrm>
            <a:off x="2232966" y="319528"/>
            <a:ext cx="0" cy="814165"/>
          </a:xfrm>
          <a:prstGeom prst="line">
            <a:avLst/>
          </a:prstGeom>
          <a:ln>
            <a:solidFill>
              <a:schemeClr val="bg1">
                <a:lumMod val="75000"/>
              </a:schemeClr>
            </a:solidFill>
          </a:ln>
          <a:scene3d>
            <a:camera prst="orthographicFront"/>
            <a:lightRig rig="threePt" dir="t"/>
          </a:scene3d>
          <a:sp3d>
            <a:bevelT w="139700" prst="cross"/>
          </a:sp3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35794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4"/>
          <p:cNvSpPr txBox="1">
            <a:spLocks noGrp="1"/>
          </p:cNvSpPr>
          <p:nvPr>
            <p:ph type="ctrTitle"/>
          </p:nvPr>
        </p:nvSpPr>
        <p:spPr>
          <a:xfrm>
            <a:off x="457200" y="1498600"/>
            <a:ext cx="11277600" cy="2997200"/>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1"/>
              </a:buClr>
              <a:buSzPts val="3600"/>
            </a:pPr>
            <a:r>
              <a:rPr lang="en-US" sz="2600" b="1">
                <a:solidFill>
                  <a:schemeClr val="dk1"/>
                </a:solidFill>
                <a:latin typeface="Calibri"/>
                <a:ea typeface="Calibri"/>
                <a:cs typeface="Calibri"/>
                <a:sym typeface="Calibri"/>
              </a:rPr>
              <a:t>B.Tech. Artificial Intelligence &amp; Data Science</a:t>
            </a:r>
            <a:br>
              <a:rPr lang="en-US" sz="2600" b="1">
                <a:solidFill>
                  <a:schemeClr val="dk1"/>
                </a:solidFill>
                <a:latin typeface="Calibri"/>
                <a:ea typeface="Calibri"/>
                <a:cs typeface="Calibri"/>
                <a:sym typeface="Calibri"/>
              </a:rPr>
            </a:br>
            <a:r>
              <a:rPr lang="en-US" sz="2600" b="1">
                <a:solidFill>
                  <a:schemeClr val="dk1"/>
                </a:solidFill>
                <a:latin typeface="Calibri"/>
                <a:ea typeface="Calibri"/>
                <a:cs typeface="Calibri"/>
                <a:sym typeface="Calibri"/>
              </a:rPr>
              <a:t>Final Presentation (Sem VII)</a:t>
            </a:r>
            <a:br>
              <a:rPr lang="en-US" sz="2600" b="1">
                <a:solidFill>
                  <a:schemeClr val="dk1"/>
                </a:solidFill>
                <a:latin typeface="Calibri"/>
                <a:ea typeface="Calibri"/>
                <a:cs typeface="Calibri"/>
                <a:sym typeface="Calibri"/>
              </a:rPr>
            </a:br>
            <a:r>
              <a:rPr lang="en-US" sz="2600" b="1">
                <a:solidFill>
                  <a:schemeClr val="dk1"/>
                </a:solidFill>
                <a:latin typeface="Calibri"/>
                <a:ea typeface="Calibri"/>
                <a:cs typeface="Calibri"/>
                <a:sym typeface="Calibri"/>
              </a:rPr>
              <a:t>A.Y. 2026–2027</a:t>
            </a:r>
            <a:br>
              <a:rPr lang="en-US" sz="2600" b="1">
                <a:solidFill>
                  <a:schemeClr val="dk1"/>
                </a:solidFill>
                <a:latin typeface="Calibri"/>
                <a:ea typeface="Calibri"/>
                <a:cs typeface="Calibri"/>
                <a:sym typeface="Calibri"/>
              </a:rPr>
            </a:br>
            <a:r>
              <a:rPr lang="en-US" sz="2600" b="1">
                <a:solidFill>
                  <a:schemeClr val="dk1"/>
                </a:solidFill>
                <a:latin typeface="Calibri"/>
                <a:ea typeface="Calibri"/>
                <a:cs typeface="Calibri"/>
                <a:sym typeface="Calibri"/>
              </a:rPr>
              <a:t>Project Title: VERITAS: Multi-Agent Deepfake Detection and Reasoning</a:t>
            </a:r>
            <a:endParaRPr sz="2600" b="1" dirty="0">
              <a:solidFill>
                <a:schemeClr val="dk1"/>
              </a:solidFill>
              <a:latin typeface="Calibri"/>
              <a:ea typeface="Calibri"/>
              <a:cs typeface="Calibri"/>
              <a:sym typeface="Calibri"/>
            </a:endParaRPr>
          </a:p>
        </p:txBody>
      </p:sp>
      <p:sp>
        <p:nvSpPr>
          <p:cNvPr id="166" name="Google Shape;166;p14"/>
          <p:cNvSpPr txBox="1">
            <a:spLocks noGrp="1"/>
          </p:cNvSpPr>
          <p:nvPr>
            <p:ph type="subTitle" idx="1"/>
          </p:nvPr>
        </p:nvSpPr>
        <p:spPr>
          <a:xfrm>
            <a:off x="838200" y="4648200"/>
            <a:ext cx="10414000" cy="1905000"/>
          </a:xfrm>
          <a:prstGeom prst="rect">
            <a:avLst/>
          </a:prstGeom>
          <a:noFill/>
          <a:ln>
            <a:noFill/>
          </a:ln>
        </p:spPr>
        <p:txBody>
          <a:bodyPr spcFirstLastPara="1" vert="horz" wrap="square" lIns="91425" tIns="45700" rIns="91425" bIns="45700" rtlCol="0" anchor="t" anchorCtr="0">
            <a:noAutofit/>
          </a:bodyPr>
          <a:lstStyle/>
          <a:p>
            <a:pPr marL="342900" indent="-342900" algn="l">
              <a:lnSpc>
                <a:spcPct val="100000"/>
              </a:lnSpc>
              <a:spcBef>
                <a:spcPts val="0"/>
              </a:spcBef>
              <a:buClr>
                <a:srgbClr val="888888"/>
              </a:buClr>
              <a:buSzPts val="2400"/>
            </a:pPr>
            <a:r>
              <a:rPr lang="en-US" sz="1800">
                <a:solidFill>
                  <a:srgbClr val="888888"/>
                </a:solidFill>
                <a:latin typeface="Calibri"/>
                <a:ea typeface="Calibri"/>
                <a:cs typeface="Calibri"/>
                <a:sym typeface="Calibri"/>
              </a:rPr>
              <a:t>Presented by: Harshil Kamde, A024</a:t>
            </a:r>
          </a:p>
          <a:p>
            <a:pPr marL="342900" indent="-342900" algn="l">
              <a:lnSpc>
                <a:spcPct val="100000"/>
              </a:lnSpc>
              <a:spcBef>
                <a:spcPts val="0"/>
              </a:spcBef>
              <a:buClr>
                <a:srgbClr val="888888"/>
              </a:buClr>
              <a:buSzPts val="2400"/>
            </a:pPr>
            <a:r>
              <a:rPr lang="en-US" sz="1800">
                <a:solidFill>
                  <a:srgbClr val="888888"/>
                </a:solidFill>
                <a:latin typeface="Calibri"/>
                <a:ea typeface="Calibri"/>
                <a:cs typeface="Calibri"/>
                <a:sym typeface="Calibri"/>
              </a:rPr>
              <a:t>		Siddhant Patil, A045</a:t>
            </a:r>
          </a:p>
          <a:p>
            <a:pPr marL="342900" indent="-342900" algn="l">
              <a:lnSpc>
                <a:spcPct val="100000"/>
              </a:lnSpc>
              <a:spcBef>
                <a:spcPts val="0"/>
              </a:spcBef>
              <a:buClr>
                <a:srgbClr val="888888"/>
              </a:buClr>
              <a:buSzPts val="2400"/>
            </a:pPr>
            <a:r>
              <a:rPr lang="en-US" sz="1800">
                <a:solidFill>
                  <a:srgbClr val="888888"/>
                </a:solidFill>
                <a:latin typeface="Calibri"/>
                <a:ea typeface="Calibri"/>
                <a:cs typeface="Calibri"/>
                <a:sym typeface="Calibri"/>
              </a:rPr>
              <a:t>		Tavis Fernandes, A117</a:t>
            </a:r>
          </a:p>
          <a:p>
            <a:pPr marL="342900" indent="-342900" algn="l">
              <a:lnSpc>
                <a:spcPct val="100000"/>
              </a:lnSpc>
              <a:buClr>
                <a:srgbClr val="888888"/>
              </a:buClr>
              <a:buSzPts val="2400"/>
            </a:pPr>
            <a:r>
              <a:rPr lang="en-US" sz="1800">
                <a:solidFill>
                  <a:srgbClr val="888888"/>
                </a:solidFill>
                <a:latin typeface="Calibri"/>
                <a:ea typeface="Calibri"/>
                <a:cs typeface="Calibri"/>
                <a:sym typeface="Calibri"/>
              </a:rPr>
              <a:t>Under the guidance of: Dr. Preeti Agarwal, Faculty Mentor, STME</a:t>
            </a:r>
            <a:endParaRPr sz="1800" dirty="0"/>
          </a:p>
        </p:txBody>
      </p:sp>
    </p:spTree>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a:spLocks noGrp="1"/>
          </p:cNvSpPr>
          <p:nvPr>
            <p:ph type="title"/>
          </p:nvPr>
        </p:nvSpPr>
        <p:spPr>
          <a:xfrm>
            <a:off x="2081561" y="1136309"/>
            <a:ext cx="8229600" cy="9144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1"/>
              </a:buClr>
              <a:buSzPts val="3600"/>
            </a:pPr>
            <a:r>
              <a:rPr lang="en-IN" sz="3600" b="1">
                <a:solidFill>
                  <a:schemeClr val="dk1"/>
                </a:solidFill>
                <a:latin typeface="Calibri"/>
                <a:ea typeface="Calibri"/>
                <a:cs typeface="Calibri"/>
                <a:sym typeface="Calibri"/>
              </a:rPr>
              <a:t>Roadmap</a:t>
            </a:r>
            <a:endParaRPr sz="3600" b="1">
              <a:solidFill>
                <a:schemeClr val="dk1"/>
              </a:solidFill>
              <a:latin typeface="Calibri"/>
              <a:ea typeface="Calibri"/>
              <a:cs typeface="Calibri"/>
              <a:sym typeface="Calibri"/>
            </a:endParaRPr>
          </a:p>
        </p:txBody>
      </p:sp>
      <p:sp>
        <p:nvSpPr>
          <p:cNvPr id="175" name="Google Shape;175;p15"/>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26-27, STME, NMIMS Navi Mumbai</a:t>
            </a:r>
            <a:endParaRPr sz="1050">
              <a:solidFill>
                <a:srgbClr val="888888"/>
              </a:solidFill>
              <a:latin typeface="Calibri"/>
              <a:ea typeface="Calibri"/>
              <a:cs typeface="Calibri"/>
              <a:sym typeface="Calibri"/>
            </a:endParaRPr>
          </a:p>
        </p:txBody>
      </p:sp>
      <p:sp>
        <p:nvSpPr>
          <p:cNvPr id="176" name="Google Shape;176;p15"/>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2</a:t>
            </a:fld>
            <a:endParaRPr sz="1050">
              <a:solidFill>
                <a:srgbClr val="888888"/>
              </a:solidFill>
              <a:latin typeface="Calibri"/>
              <a:ea typeface="Calibri"/>
              <a:cs typeface="Calibri"/>
              <a:sym typeface="Calibri"/>
            </a:endParaRPr>
          </a:p>
        </p:txBody>
      </p:sp>
      <p:sp>
        <p:nvSpPr>
          <p:cNvPr id="177" name="Google Shape;177;p15"/>
          <p:cNvSpPr txBox="1"/>
          <p:nvPr/>
        </p:nvSpPr>
        <p:spPr>
          <a:xfrm>
            <a:off x="2621495" y="1904999"/>
            <a:ext cx="6945586" cy="4318000"/>
          </a:xfrm>
          <a:prstGeom prst="rect">
            <a:avLst/>
          </a:prstGeom>
          <a:noFill/>
          <a:ln>
            <a:noFill/>
          </a:ln>
        </p:spPr>
        <p:txBody>
          <a:bodyPr spcFirstLastPara="1" wrap="square" lIns="91425" tIns="91425" rIns="91425" bIns="91425" anchor="t" anchorCtr="0">
            <a:noAutofit/>
          </a:bodyPr>
          <a:lstStyle/>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Introduction and motivation</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Problem statement and objectives</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Literature survey</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Proposed system and architecture</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Detectors, fusion and verdict flow</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Implementation and interface</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Results and robustness analysis</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Conclusion and future scope</a:t>
            </a:r>
          </a:p>
          <a:p>
            <a:pPr marL="457200" indent="-381000">
              <a:spcBef>
                <a:spcPts val="480"/>
              </a:spcBef>
              <a:buClr>
                <a:schemeClr val="dk1"/>
              </a:buClr>
              <a:buSzPts val="2400"/>
              <a:buFont typeface="Noto Sans Symbols"/>
              <a:buChar char="❑"/>
            </a:pPr>
            <a:r>
              <a:rPr lang="en-US" sz="2200">
                <a:solidFill>
                  <a:schemeClr val="dk1"/>
                </a:solidFill>
                <a:latin typeface="Book Antiqua"/>
                <a:ea typeface="Book Antiqua"/>
                <a:cs typeface="Book Antiqua"/>
                <a:sym typeface="Book Antiqua"/>
              </a:rPr>
              <a:t>References</a:t>
            </a:r>
            <a:endParaRPr sz="22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INTRODUCTION AND MOTIVATION</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DACA53C7-5C3E-8A50-5ABB-A113F88FF59F}"/>
              </a:ext>
            </a:extLst>
          </p:cNvPr>
          <p:cNvSpPr>
            <a:spLocks noGrp="1"/>
          </p:cNvSpPr>
          <p:nvPr>
            <p:ph type="subTitle" idx="1"/>
          </p:nvPr>
        </p:nvSpPr>
        <p:spPr/>
        <p:txBody>
          <a:bodyPr/>
          <a:lstStyle/>
          <a:p>
            <a:r>
              <a:rPr lang="en-IN" dirty="0"/>
              <a:t>.</a:t>
            </a:r>
          </a:p>
        </p:txBody>
      </p:sp>
      <p:sp>
        <p:nvSpPr>
          <p:cNvPr id="5" name="TextBox 4">
            <a:extLst>
              <a:ext uri="{FF2B5EF4-FFF2-40B4-BE49-F238E27FC236}">
                <a16:creationId xmlns:a16="http://schemas.microsoft.com/office/drawing/2014/main" id="{4FE8736D-18A1-2EFC-C06E-6ED9BCE894C0}"/>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A4E6CC8A-ECDD-3366-CD6A-C8093CD137A5}"/>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3</a:t>
            </a:r>
          </a:p>
        </p:txBody>
      </p:sp>
      <p:sp>
        <p:nvSpPr>
          <p:cNvPr id="7" name="TextBox 6">
            <a:extLst>
              <a:ext uri="{FF2B5EF4-FFF2-40B4-BE49-F238E27FC236}">
                <a16:creationId xmlns:a16="http://schemas.microsoft.com/office/drawing/2014/main" id="{5D42EDB6-C3D6-A560-399C-DB477789A2FC}"/>
              </a:ext>
            </a:extLst>
          </p:cNvPr>
          <p:cNvSpPr txBox="1"/>
          <p:nvPr/>
        </p:nvSpPr>
        <p:spPr>
          <a:xfrm>
            <a:off x="508000" y="2095500"/>
            <a:ext cx="5969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700">
                <a:solidFill>
                  <a:srgbClr val="212121"/>
                </a:solidFill>
                <a:latin typeface="Calibri" panose="020F0502020204030204" pitchFamily="34" charset="0"/>
              </a:rPr>
              <a:t>Deepfakes: faces or voices synthesised or altered by GANs, diffusion, face-swap, lip-sync and voice-cloning models [1]-[4]</a:t>
            </a:r>
          </a:p>
          <a:p>
            <a:pPr marL="203200" indent="-203200">
              <a:spcAft>
                <a:spcPts val="600"/>
              </a:spcAft>
              <a:buFont typeface="+mj-lt"/>
              <a:buChar char="•"/>
            </a:pPr>
            <a:r>
              <a:rPr lang="en-US" sz="1700">
                <a:solidFill>
                  <a:srgbClr val="212121"/>
                </a:solidFill>
                <a:latin typeface="Calibri" panose="020F0502020204030204" pitchFamily="34" charset="0"/>
              </a:rPr>
              <a:t>One forgery can alter the face, the voice or both; a single-modality detector misses the other half</a:t>
            </a:r>
          </a:p>
          <a:p>
            <a:pPr marL="203200" indent="-203200">
              <a:spcAft>
                <a:spcPts val="600"/>
              </a:spcAft>
              <a:buFont typeface="+mj-lt"/>
              <a:buChar char="•"/>
            </a:pPr>
            <a:r>
              <a:rPr lang="en-US" sz="1700">
                <a:solidFill>
                  <a:srgbClr val="212121"/>
                </a:solidFill>
                <a:latin typeface="Calibri" panose="020F0502020204030204" pitchFamily="34" charset="0"/>
              </a:rPr>
              <a:t>Media shared online is re-encoded, so detectors must survive compression, rescaling and blur [5]</a:t>
            </a:r>
          </a:p>
          <a:p>
            <a:pPr marL="203200" indent="-203200">
              <a:spcAft>
                <a:spcPts val="600"/>
              </a:spcAft>
              <a:buFont typeface="+mj-lt"/>
              <a:buChar char="•"/>
            </a:pPr>
            <a:r>
              <a:rPr lang="en-US" sz="1700">
                <a:solidFill>
                  <a:srgbClr val="212121"/>
                </a:solidFill>
                <a:latin typeface="Calibri" panose="020F0502020204030204" pitchFamily="34" charset="0"/>
              </a:rPr>
              <a:t>Goal: one tool that checks all available evidence, explains it, and abstains when unsure</a:t>
            </a:r>
            <a:endParaRPr lang="en-IN" sz="1700">
              <a:solidFill>
                <a:srgbClr val="212121"/>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4BD36F91-01B4-BD77-E32F-9DE38B755801}"/>
              </a:ext>
            </a:extLst>
          </p:cNvPr>
          <p:cNvSpPr/>
          <p:nvPr/>
        </p:nvSpPr>
        <p:spPr>
          <a:xfrm>
            <a:off x="6858000" y="2095500"/>
            <a:ext cx="4826000" cy="1168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Spatial evidence</a:t>
            </a:r>
          </a:p>
          <a:p>
            <a:r>
              <a:rPr lang="en-US" sz="1400">
                <a:solidFill>
                  <a:srgbClr val="212121"/>
                </a:solidFill>
                <a:latin typeface="Calibri" panose="020F0502020204030204" pitchFamily="34" charset="0"/>
              </a:rPr>
              <a:t>Blending seams and texture artefacts in a single frame</a:t>
            </a:r>
            <a:endParaRPr lang="en-IN" sz="1400">
              <a:solidFill>
                <a:srgbClr val="212121"/>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073756E2-EE56-419A-8390-6187B109F25E}"/>
              </a:ext>
            </a:extLst>
          </p:cNvPr>
          <p:cNvSpPr/>
          <p:nvPr/>
        </p:nvSpPr>
        <p:spPr>
          <a:xfrm>
            <a:off x="6858000" y="3441700"/>
            <a:ext cx="4826000" cy="1168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Temporal evidence</a:t>
            </a:r>
          </a:p>
          <a:p>
            <a:r>
              <a:rPr lang="en-US" sz="1400">
                <a:solidFill>
                  <a:srgbClr val="212121"/>
                </a:solidFill>
                <a:latin typeface="Calibri" panose="020F0502020204030204" pitchFamily="34" charset="0"/>
              </a:rPr>
              <a:t>Flicker and unnatural motion across frames</a:t>
            </a:r>
            <a:endParaRPr lang="en-IN" sz="1400">
              <a:solidFill>
                <a:srgbClr val="212121"/>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E5632F43-E8B7-DFEB-D7C1-4D241007F44F}"/>
              </a:ext>
            </a:extLst>
          </p:cNvPr>
          <p:cNvSpPr/>
          <p:nvPr/>
        </p:nvSpPr>
        <p:spPr>
          <a:xfrm>
            <a:off x="6858000" y="4787900"/>
            <a:ext cx="4826000" cy="1168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Audio evidence</a:t>
            </a:r>
          </a:p>
          <a:p>
            <a:r>
              <a:rPr lang="en-US" sz="1400">
                <a:solidFill>
                  <a:srgbClr val="212121"/>
                </a:solidFill>
                <a:latin typeface="Calibri" panose="020F0502020204030204" pitchFamily="34" charset="0"/>
              </a:rPr>
              <a:t>Synthesis and voice-cloning artefacts in the spectrum</a:t>
            </a:r>
            <a:endParaRPr lang="en-IN" sz="1400">
              <a:solidFill>
                <a:srgbClr val="212121"/>
              </a:solidFill>
              <a:latin typeface="Calibri" panose="020F0502020204030204" pitchFamily="34" charset="0"/>
            </a:endParaRPr>
          </a:p>
        </p:txBody>
      </p:sp>
    </p:spTree>
    <p:extLst>
      <p:ext uri="{BB962C8B-B14F-4D97-AF65-F5344CB8AC3E}">
        <p14:creationId xmlns:p14="http://schemas.microsoft.com/office/powerpoint/2010/main" val="201721427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PROBLEM STATEMENT AND OBJECTIVES</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DF856817-80B4-E483-59EF-1352EACAF242}"/>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3CC2A520-977A-344F-8248-A5636E938949}"/>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7278BDD6-2D7E-ACBC-34AF-AA64A36BDD72}"/>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4</a:t>
            </a:r>
          </a:p>
        </p:txBody>
      </p:sp>
      <p:sp>
        <p:nvSpPr>
          <p:cNvPr id="7" name="Rectangle: Rounded Corners 6">
            <a:extLst>
              <a:ext uri="{FF2B5EF4-FFF2-40B4-BE49-F238E27FC236}">
                <a16:creationId xmlns:a16="http://schemas.microsoft.com/office/drawing/2014/main" id="{B507F643-8E2E-000A-9804-C4A369D74B1B}"/>
              </a:ext>
            </a:extLst>
          </p:cNvPr>
          <p:cNvSpPr/>
          <p:nvPr/>
        </p:nvSpPr>
        <p:spPr>
          <a:xfrm>
            <a:off x="508000" y="2032000"/>
            <a:ext cx="11176000" cy="990600"/>
          </a:xfrm>
          <a:prstGeom prst="roundRect">
            <a:avLst>
              <a:gd name="adj" fmla="val 12000"/>
            </a:avLst>
          </a:prstGeom>
          <a:solidFill>
            <a:srgbClr val="FDEC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500">
                <a:solidFill>
                  <a:srgbClr val="212121"/>
                </a:solidFill>
                <a:latin typeface="Calibri" panose="020F0502020204030204" pitchFamily="34" charset="0"/>
              </a:rPr>
              <a:t>Design and implement a multimodal system that analyses spatial, temporal and audio evidence in images, videos and audio, fuses it into one verdict with a manipulation type, abstains when evidence is insufficient, explains each detector, and is evaluated with a leakage-controlled protocol.</a:t>
            </a:r>
            <a:endParaRPr lang="en-IN" sz="1500">
              <a:solidFill>
                <a:srgbClr val="212121"/>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FF4890A9-79AD-9B75-FB54-EFB7A358AE2C}"/>
              </a:ext>
            </a:extLst>
          </p:cNvPr>
          <p:cNvSpPr/>
          <p:nvPr/>
        </p:nvSpPr>
        <p:spPr>
          <a:xfrm>
            <a:off x="508000" y="32766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2600" b="1">
                <a:solidFill>
                  <a:srgbClr val="B00020"/>
                </a:solidFill>
                <a:latin typeface="Calibri" panose="020F0502020204030204" pitchFamily="34" charset="0"/>
              </a:rPr>
              <a:t>01</a:t>
            </a:r>
          </a:p>
          <a:p>
            <a:pPr algn="ctr"/>
            <a:r>
              <a:rPr lang="en-US" sz="1500">
                <a:solidFill>
                  <a:srgbClr val="212121"/>
                </a:solidFill>
                <a:latin typeface="Calibri" panose="020F0502020204030204" pitchFamily="34" charset="0"/>
              </a:rPr>
              <a:t>Spatial detector for face frames</a:t>
            </a:r>
            <a:endParaRPr lang="en-IN" sz="1500">
              <a:solidFill>
                <a:srgbClr val="212121"/>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162E5301-EB26-0B98-A33B-260475BDA484}"/>
              </a:ext>
            </a:extLst>
          </p:cNvPr>
          <p:cNvSpPr/>
          <p:nvPr/>
        </p:nvSpPr>
        <p:spPr>
          <a:xfrm>
            <a:off x="4267200" y="32766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2600" b="1">
                <a:solidFill>
                  <a:srgbClr val="B00020"/>
                </a:solidFill>
                <a:latin typeface="Calibri" panose="020F0502020204030204" pitchFamily="34" charset="0"/>
              </a:rPr>
              <a:t>02</a:t>
            </a:r>
          </a:p>
          <a:p>
            <a:pPr algn="ctr"/>
            <a:r>
              <a:rPr lang="en-IN" sz="1500">
                <a:solidFill>
                  <a:srgbClr val="212121"/>
                </a:solidFill>
                <a:latin typeface="Calibri" panose="020F0502020204030204" pitchFamily="34" charset="0"/>
              </a:rPr>
              <a:t>Temporal detector for face videos</a:t>
            </a:r>
          </a:p>
        </p:txBody>
      </p:sp>
      <p:sp>
        <p:nvSpPr>
          <p:cNvPr id="10" name="Rectangle: Rounded Corners 9">
            <a:extLst>
              <a:ext uri="{FF2B5EF4-FFF2-40B4-BE49-F238E27FC236}">
                <a16:creationId xmlns:a16="http://schemas.microsoft.com/office/drawing/2014/main" id="{B3AE363C-9B0C-B133-7BD3-C828F4406090}"/>
              </a:ext>
            </a:extLst>
          </p:cNvPr>
          <p:cNvSpPr/>
          <p:nvPr/>
        </p:nvSpPr>
        <p:spPr>
          <a:xfrm>
            <a:off x="8026400" y="32766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2600" b="1">
                <a:solidFill>
                  <a:srgbClr val="B00020"/>
                </a:solidFill>
                <a:latin typeface="Calibri" panose="020F0502020204030204" pitchFamily="34" charset="0"/>
              </a:rPr>
              <a:t>03</a:t>
            </a:r>
          </a:p>
          <a:p>
            <a:pPr algn="ctr"/>
            <a:r>
              <a:rPr lang="en-US" sz="1500">
                <a:solidFill>
                  <a:srgbClr val="212121"/>
                </a:solidFill>
                <a:latin typeface="Calibri" panose="020F0502020204030204" pitchFamily="34" charset="0"/>
              </a:rPr>
              <a:t>Audio detector for speech</a:t>
            </a:r>
            <a:endParaRPr lang="en-IN" sz="1500">
              <a:solidFill>
                <a:srgbClr val="212121"/>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FDA024C3-7D79-B782-045D-6522E4DC7638}"/>
              </a:ext>
            </a:extLst>
          </p:cNvPr>
          <p:cNvSpPr/>
          <p:nvPr/>
        </p:nvSpPr>
        <p:spPr>
          <a:xfrm>
            <a:off x="508000" y="47752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2600" b="1">
                <a:solidFill>
                  <a:srgbClr val="B00020"/>
                </a:solidFill>
                <a:latin typeface="Calibri" panose="020F0502020204030204" pitchFamily="34" charset="0"/>
              </a:rPr>
              <a:t>04</a:t>
            </a:r>
          </a:p>
          <a:p>
            <a:pPr algn="ctr"/>
            <a:r>
              <a:rPr lang="en-US" sz="1500">
                <a:solidFill>
                  <a:srgbClr val="212121"/>
                </a:solidFill>
                <a:latin typeface="Calibri" panose="020F0502020204030204" pitchFamily="34" charset="0"/>
              </a:rPr>
              <a:t>Fusion with verdict, type and abstention</a:t>
            </a:r>
            <a:endParaRPr lang="en-IN" sz="1500">
              <a:solidFill>
                <a:srgbClr val="212121"/>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850D0063-D251-7379-3CC1-AC1867CB47BC}"/>
              </a:ext>
            </a:extLst>
          </p:cNvPr>
          <p:cNvSpPr/>
          <p:nvPr/>
        </p:nvSpPr>
        <p:spPr>
          <a:xfrm>
            <a:off x="4267200" y="47752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2600" b="1">
                <a:solidFill>
                  <a:srgbClr val="B00020"/>
                </a:solidFill>
                <a:latin typeface="Calibri" panose="020F0502020204030204" pitchFamily="34" charset="0"/>
              </a:rPr>
              <a:t>05</a:t>
            </a:r>
          </a:p>
          <a:p>
            <a:pPr algn="ctr"/>
            <a:r>
              <a:rPr lang="en-US" sz="1500">
                <a:solidFill>
                  <a:srgbClr val="212121"/>
                </a:solidFill>
                <a:latin typeface="Calibri" panose="020F0502020204030204" pitchFamily="34" charset="0"/>
              </a:rPr>
              <a:t>Streaming web console and JSON report</a:t>
            </a:r>
            <a:endParaRPr lang="en-IN" sz="1500">
              <a:solidFill>
                <a:srgbClr val="212121"/>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70E654FA-B8A5-9FB0-90C3-00D9DC5B30D9}"/>
              </a:ext>
            </a:extLst>
          </p:cNvPr>
          <p:cNvSpPr/>
          <p:nvPr/>
        </p:nvSpPr>
        <p:spPr>
          <a:xfrm>
            <a:off x="8026400" y="4775200"/>
            <a:ext cx="3556000" cy="13208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2600" b="1">
                <a:solidFill>
                  <a:srgbClr val="B00020"/>
                </a:solidFill>
                <a:latin typeface="Calibri" panose="020F0502020204030204" pitchFamily="34" charset="0"/>
              </a:rPr>
              <a:t>06</a:t>
            </a:r>
          </a:p>
          <a:p>
            <a:pPr algn="ctr"/>
            <a:r>
              <a:rPr lang="en-US" sz="1500">
                <a:solidFill>
                  <a:srgbClr val="212121"/>
                </a:solidFill>
                <a:latin typeface="Calibri" panose="020F0502020204030204" pitchFamily="34" charset="0"/>
              </a:rPr>
              <a:t>Identity-disjoint training and robustness tests</a:t>
            </a:r>
            <a:endParaRPr lang="en-IN" sz="1500">
              <a:solidFill>
                <a:srgbClr val="212121"/>
              </a:solidFill>
              <a:latin typeface="Calibri" panose="020F0502020204030204" pitchFamily="34" charset="0"/>
            </a:endParaRPr>
          </a:p>
        </p:txBody>
      </p:sp>
    </p:spTree>
    <p:extLst>
      <p:ext uri="{BB962C8B-B14F-4D97-AF65-F5344CB8AC3E}">
        <p14:creationId xmlns:p14="http://schemas.microsoft.com/office/powerpoint/2010/main" val="416548421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LITERATURE SURVEY</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70F10822-2AA4-365A-9B64-8D76D6B62830}"/>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C18B4F3E-27A8-886A-1B43-828DC93A5370}"/>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3AF03EE6-B89F-AFCA-A267-BDA003F51E7C}"/>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5</a:t>
            </a:r>
          </a:p>
        </p:txBody>
      </p:sp>
      <p:graphicFrame>
        <p:nvGraphicFramePr>
          <p:cNvPr id="7" name="Table 6">
            <a:extLst>
              <a:ext uri="{FF2B5EF4-FFF2-40B4-BE49-F238E27FC236}">
                <a16:creationId xmlns:a16="http://schemas.microsoft.com/office/drawing/2014/main" id="{53C4F5D6-CC5E-9330-A86D-6ACFAD7C85B6}"/>
              </a:ext>
            </a:extLst>
          </p:cNvPr>
          <p:cNvGraphicFramePr>
            <a:graphicFrameLocks noGrp="1"/>
          </p:cNvGraphicFramePr>
          <p:nvPr>
            <p:extLst>
              <p:ext uri="{D42A27DB-BD31-4B8C-83A1-F6EECF244321}">
                <p14:modId xmlns:p14="http://schemas.microsoft.com/office/powerpoint/2010/main" val="3813787221"/>
              </p:ext>
            </p:extLst>
          </p:nvPr>
        </p:nvGraphicFramePr>
        <p:xfrm>
          <a:off x="508000" y="2006600"/>
          <a:ext cx="11176000" cy="3810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992507055"/>
                    </a:ext>
                  </a:extLst>
                </a:gridCol>
                <a:gridCol w="1524000">
                  <a:extLst>
                    <a:ext uri="{9D8B030D-6E8A-4147-A177-3AD203B41FA5}">
                      <a16:colId xmlns:a16="http://schemas.microsoft.com/office/drawing/2014/main" val="2230669730"/>
                    </a:ext>
                  </a:extLst>
                </a:gridCol>
                <a:gridCol w="3810000">
                  <a:extLst>
                    <a:ext uri="{9D8B030D-6E8A-4147-A177-3AD203B41FA5}">
                      <a16:colId xmlns:a16="http://schemas.microsoft.com/office/drawing/2014/main" val="1056879014"/>
                    </a:ext>
                  </a:extLst>
                </a:gridCol>
                <a:gridCol w="3429000">
                  <a:extLst>
                    <a:ext uri="{9D8B030D-6E8A-4147-A177-3AD203B41FA5}">
                      <a16:colId xmlns:a16="http://schemas.microsoft.com/office/drawing/2014/main" val="4005113718"/>
                    </a:ext>
                  </a:extLst>
                </a:gridCol>
              </a:tblGrid>
              <a:tr h="476250">
                <a:tc>
                  <a:txBody>
                    <a:bodyPr/>
                    <a:lstStyle/>
                    <a:p>
                      <a:r>
                        <a:rPr lang="en-IN" sz="1300" b="1">
                          <a:solidFill>
                            <a:srgbClr val="FFFFFF"/>
                          </a:solidFill>
                          <a:latin typeface="Calibri" panose="020F0502020204030204" pitchFamily="34" charset="0"/>
                        </a:rPr>
                        <a:t>Work</a:t>
                      </a:r>
                    </a:p>
                  </a:txBody>
                  <a:tcPr marT="38100" marB="38100">
                    <a:solidFill>
                      <a:srgbClr val="1F3A5F"/>
                    </a:solidFill>
                  </a:tcPr>
                </a:tc>
                <a:tc>
                  <a:txBody>
                    <a:bodyPr/>
                    <a:lstStyle/>
                    <a:p>
                      <a:r>
                        <a:rPr lang="en-IN" sz="1300" b="1">
                          <a:solidFill>
                            <a:srgbClr val="FFFFFF"/>
                          </a:solidFill>
                          <a:latin typeface="Calibri" panose="020F0502020204030204" pitchFamily="34" charset="0"/>
                        </a:rPr>
                        <a:t>Modality</a:t>
                      </a:r>
                    </a:p>
                  </a:txBody>
                  <a:tcPr marT="38100" marB="38100">
                    <a:solidFill>
                      <a:srgbClr val="1F3A5F"/>
                    </a:solidFill>
                  </a:tcPr>
                </a:tc>
                <a:tc>
                  <a:txBody>
                    <a:bodyPr/>
                    <a:lstStyle/>
                    <a:p>
                      <a:r>
                        <a:rPr lang="en-IN" sz="1300" b="1">
                          <a:solidFill>
                            <a:srgbClr val="FFFFFF"/>
                          </a:solidFill>
                          <a:latin typeface="Calibri" panose="020F0502020204030204" pitchFamily="34" charset="0"/>
                        </a:rPr>
                        <a:t>Key idea</a:t>
                      </a:r>
                    </a:p>
                  </a:txBody>
                  <a:tcPr marT="38100" marB="38100">
                    <a:solidFill>
                      <a:srgbClr val="1F3A5F"/>
                    </a:solidFill>
                  </a:tcPr>
                </a:tc>
                <a:tc>
                  <a:txBody>
                    <a:bodyPr/>
                    <a:lstStyle/>
                    <a:p>
                      <a:r>
                        <a:rPr lang="en-IN" sz="1300" b="1">
                          <a:solidFill>
                            <a:srgbClr val="FFFFFF"/>
                          </a:solidFill>
                          <a:latin typeface="Calibri" panose="020F0502020204030204" pitchFamily="34" charset="0"/>
                        </a:rPr>
                        <a:t>Limitation for our goal</a:t>
                      </a:r>
                    </a:p>
                  </a:txBody>
                  <a:tcPr marT="38100" marB="38100">
                    <a:solidFill>
                      <a:srgbClr val="1F3A5F"/>
                    </a:solidFill>
                  </a:tcPr>
                </a:tc>
                <a:extLst>
                  <a:ext uri="{0D108BD9-81ED-4DB2-BD59-A6C34878D82A}">
                    <a16:rowId xmlns:a16="http://schemas.microsoft.com/office/drawing/2014/main" val="4017919536"/>
                  </a:ext>
                </a:extLst>
              </a:tr>
              <a:tr h="476250">
                <a:tc>
                  <a:txBody>
                    <a:bodyPr/>
                    <a:lstStyle/>
                    <a:p>
                      <a:r>
                        <a:rPr lang="en-IN" sz="1300" b="0">
                          <a:solidFill>
                            <a:srgbClr val="212121"/>
                          </a:solidFill>
                          <a:latin typeface="Calibri" panose="020F0502020204030204" pitchFamily="34" charset="0"/>
                        </a:rPr>
                        <a:t>MesoNet [9]</a:t>
                      </a:r>
                    </a:p>
                  </a:txBody>
                  <a:tcPr marT="38100" marB="38100">
                    <a:solidFill>
                      <a:srgbClr val="FFFFFF"/>
                    </a:solidFill>
                  </a:tcPr>
                </a:tc>
                <a:tc>
                  <a:txBody>
                    <a:bodyPr/>
                    <a:lstStyle/>
                    <a:p>
                      <a:r>
                        <a:rPr lang="en-IN" sz="1300" b="0">
                          <a:solidFill>
                            <a:srgbClr val="212121"/>
                          </a:solidFill>
                          <a:latin typeface="Calibri" panose="020F0502020204030204" pitchFamily="34" charset="0"/>
                        </a:rPr>
                        <a:t>Frame</a:t>
                      </a:r>
                    </a:p>
                  </a:txBody>
                  <a:tcPr marT="38100" marB="38100">
                    <a:solidFill>
                      <a:srgbClr val="FFFFFF"/>
                    </a:solidFill>
                  </a:tcPr>
                </a:tc>
                <a:tc>
                  <a:txBody>
                    <a:bodyPr/>
                    <a:lstStyle/>
                    <a:p>
                      <a:r>
                        <a:rPr lang="en-US" sz="1300" b="0">
                          <a:solidFill>
                            <a:srgbClr val="212121"/>
                          </a:solidFill>
                          <a:latin typeface="Calibri" panose="020F0502020204030204" pitchFamily="34" charset="0"/>
                        </a:rPr>
                        <a:t>Compact CNN on mesoscopic features</a:t>
                      </a:r>
                      <a:endParaRPr lang="en-IN" sz="1300" b="0">
                        <a:solidFill>
                          <a:srgbClr val="212121"/>
                        </a:solidFill>
                        <a:latin typeface="Calibri" panose="020F0502020204030204" pitchFamily="34" charset="0"/>
                      </a:endParaRPr>
                    </a:p>
                  </a:txBody>
                  <a:tcPr marT="38100" marB="38100">
                    <a:solidFill>
                      <a:srgbClr val="FFFFFF"/>
                    </a:solidFill>
                  </a:tcPr>
                </a:tc>
                <a:tc>
                  <a:txBody>
                    <a:bodyPr/>
                    <a:lstStyle/>
                    <a:p>
                      <a:r>
                        <a:rPr lang="en-IN" sz="1300" b="0">
                          <a:solidFill>
                            <a:srgbClr val="212121"/>
                          </a:solidFill>
                          <a:latin typeface="Calibri" panose="020F0502020204030204" pitchFamily="34" charset="0"/>
                        </a:rPr>
                        <a:t>Two manipulation types only</a:t>
                      </a:r>
                    </a:p>
                  </a:txBody>
                  <a:tcPr marT="38100" marB="38100">
                    <a:solidFill>
                      <a:srgbClr val="FFFFFF"/>
                    </a:solidFill>
                  </a:tcPr>
                </a:tc>
                <a:extLst>
                  <a:ext uri="{0D108BD9-81ED-4DB2-BD59-A6C34878D82A}">
                    <a16:rowId xmlns:a16="http://schemas.microsoft.com/office/drawing/2014/main" val="3177141911"/>
                  </a:ext>
                </a:extLst>
              </a:tr>
              <a:tr h="476250">
                <a:tc>
                  <a:txBody>
                    <a:bodyPr/>
                    <a:lstStyle/>
                    <a:p>
                      <a:r>
                        <a:rPr lang="en-IN" sz="1300" b="0">
                          <a:solidFill>
                            <a:srgbClr val="212121"/>
                          </a:solidFill>
                          <a:latin typeface="Calibri" panose="020F0502020204030204" pitchFamily="34" charset="0"/>
                        </a:rPr>
                        <a:t>FaceForensics++ [5]</a:t>
                      </a:r>
                    </a:p>
                  </a:txBody>
                  <a:tcPr marT="38100" marB="38100">
                    <a:solidFill>
                      <a:srgbClr val="F4F5F7"/>
                    </a:solidFill>
                  </a:tcPr>
                </a:tc>
                <a:tc>
                  <a:txBody>
                    <a:bodyPr/>
                    <a:lstStyle/>
                    <a:p>
                      <a:r>
                        <a:rPr lang="en-IN" sz="1300" b="0">
                          <a:solidFill>
                            <a:srgbClr val="212121"/>
                          </a:solidFill>
                          <a:latin typeface="Calibri" panose="020F0502020204030204" pitchFamily="34" charset="0"/>
                        </a:rPr>
                        <a:t>Frame</a:t>
                      </a:r>
                    </a:p>
                  </a:txBody>
                  <a:tcPr marT="38100" marB="38100">
                    <a:solidFill>
                      <a:srgbClr val="F4F5F7"/>
                    </a:solidFill>
                  </a:tcPr>
                </a:tc>
                <a:tc>
                  <a:txBody>
                    <a:bodyPr/>
                    <a:lstStyle/>
                    <a:p>
                      <a:r>
                        <a:rPr lang="en-IN" sz="1300" b="0">
                          <a:solidFill>
                            <a:srgbClr val="212121"/>
                          </a:solidFill>
                          <a:latin typeface="Calibri" panose="020F0502020204030204" pitchFamily="34" charset="0"/>
                        </a:rPr>
                        <a:t>XceptionNet on face crops</a:t>
                      </a:r>
                    </a:p>
                  </a:txBody>
                  <a:tcPr marT="38100" marB="38100">
                    <a:solidFill>
                      <a:srgbClr val="F4F5F7"/>
                    </a:solidFill>
                  </a:tcPr>
                </a:tc>
                <a:tc>
                  <a:txBody>
                    <a:bodyPr/>
                    <a:lstStyle/>
                    <a:p>
                      <a:r>
                        <a:rPr lang="en-US" sz="1300" b="0">
                          <a:solidFill>
                            <a:srgbClr val="212121"/>
                          </a:solidFill>
                          <a:latin typeface="Calibri" panose="020F0502020204030204" pitchFamily="34" charset="0"/>
                        </a:rPr>
                        <a:t>Accuracy drops under strong compression</a:t>
                      </a:r>
                      <a:endParaRPr lang="en-IN" sz="1300" b="0">
                        <a:solidFill>
                          <a:srgbClr val="212121"/>
                        </a:solidFill>
                        <a:latin typeface="Calibri" panose="020F0502020204030204" pitchFamily="34" charset="0"/>
                      </a:endParaRPr>
                    </a:p>
                  </a:txBody>
                  <a:tcPr marT="38100" marB="38100">
                    <a:solidFill>
                      <a:srgbClr val="F4F5F7"/>
                    </a:solidFill>
                  </a:tcPr>
                </a:tc>
                <a:extLst>
                  <a:ext uri="{0D108BD9-81ED-4DB2-BD59-A6C34878D82A}">
                    <a16:rowId xmlns:a16="http://schemas.microsoft.com/office/drawing/2014/main" val="85418586"/>
                  </a:ext>
                </a:extLst>
              </a:tr>
              <a:tr h="476250">
                <a:tc>
                  <a:txBody>
                    <a:bodyPr/>
                    <a:lstStyle/>
                    <a:p>
                      <a:r>
                        <a:rPr lang="en-IN" sz="1300" b="0">
                          <a:solidFill>
                            <a:srgbClr val="212121"/>
                          </a:solidFill>
                          <a:latin typeface="Calibri" panose="020F0502020204030204" pitchFamily="34" charset="0"/>
                        </a:rPr>
                        <a:t>Face X-ray [10]</a:t>
                      </a:r>
                    </a:p>
                  </a:txBody>
                  <a:tcPr marT="38100" marB="38100">
                    <a:solidFill>
                      <a:srgbClr val="FFFFFF"/>
                    </a:solidFill>
                  </a:tcPr>
                </a:tc>
                <a:tc>
                  <a:txBody>
                    <a:bodyPr/>
                    <a:lstStyle/>
                    <a:p>
                      <a:r>
                        <a:rPr lang="en-IN" sz="1300" b="0">
                          <a:solidFill>
                            <a:srgbClr val="212121"/>
                          </a:solidFill>
                          <a:latin typeface="Calibri" panose="020F0502020204030204" pitchFamily="34" charset="0"/>
                        </a:rPr>
                        <a:t>Frame</a:t>
                      </a:r>
                    </a:p>
                  </a:txBody>
                  <a:tcPr marT="38100" marB="38100">
                    <a:solidFill>
                      <a:srgbClr val="FFFFFF"/>
                    </a:solidFill>
                  </a:tcPr>
                </a:tc>
                <a:tc>
                  <a:txBody>
                    <a:bodyPr/>
                    <a:lstStyle/>
                    <a:p>
                      <a:r>
                        <a:rPr lang="en-IN" sz="1300" b="0">
                          <a:solidFill>
                            <a:srgbClr val="212121"/>
                          </a:solidFill>
                          <a:latin typeface="Calibri" panose="020F0502020204030204" pitchFamily="34" charset="0"/>
                        </a:rPr>
                        <a:t>Detects the blending boundary</a:t>
                      </a:r>
                    </a:p>
                  </a:txBody>
                  <a:tcPr marT="38100" marB="38100">
                    <a:solidFill>
                      <a:srgbClr val="FFFFFF"/>
                    </a:solidFill>
                  </a:tcPr>
                </a:tc>
                <a:tc>
                  <a:txBody>
                    <a:bodyPr/>
                    <a:lstStyle/>
                    <a:p>
                      <a:r>
                        <a:rPr lang="en-IN" sz="1300" b="0">
                          <a:solidFill>
                            <a:srgbClr val="212121"/>
                          </a:solidFill>
                          <a:latin typeface="Calibri" panose="020F0502020204030204" pitchFamily="34" charset="0"/>
                        </a:rPr>
                        <a:t>Assumes a blending step</a:t>
                      </a:r>
                    </a:p>
                  </a:txBody>
                  <a:tcPr marT="38100" marB="38100">
                    <a:solidFill>
                      <a:srgbClr val="FFFFFF"/>
                    </a:solidFill>
                  </a:tcPr>
                </a:tc>
                <a:extLst>
                  <a:ext uri="{0D108BD9-81ED-4DB2-BD59-A6C34878D82A}">
                    <a16:rowId xmlns:a16="http://schemas.microsoft.com/office/drawing/2014/main" val="988176198"/>
                  </a:ext>
                </a:extLst>
              </a:tr>
              <a:tr h="476250">
                <a:tc>
                  <a:txBody>
                    <a:bodyPr/>
                    <a:lstStyle/>
                    <a:p>
                      <a:r>
                        <a:rPr lang="en-IN" sz="1300" b="0">
                          <a:solidFill>
                            <a:srgbClr val="212121"/>
                          </a:solidFill>
                          <a:latin typeface="Calibri" panose="020F0502020204030204" pitchFamily="34" charset="0"/>
                        </a:rPr>
                        <a:t>LipForensics [12]</a:t>
                      </a:r>
                    </a:p>
                  </a:txBody>
                  <a:tcPr marT="38100" marB="38100">
                    <a:solidFill>
                      <a:srgbClr val="F4F5F7"/>
                    </a:solidFill>
                  </a:tcPr>
                </a:tc>
                <a:tc>
                  <a:txBody>
                    <a:bodyPr/>
                    <a:lstStyle/>
                    <a:p>
                      <a:r>
                        <a:rPr lang="en-IN" sz="1300" b="0">
                          <a:solidFill>
                            <a:srgbClr val="212121"/>
                          </a:solidFill>
                          <a:latin typeface="Calibri" panose="020F0502020204030204" pitchFamily="34" charset="0"/>
                        </a:rPr>
                        <a:t>Video</a:t>
                      </a:r>
                    </a:p>
                  </a:txBody>
                  <a:tcPr marT="38100" marB="38100">
                    <a:solidFill>
                      <a:srgbClr val="F4F5F7"/>
                    </a:solidFill>
                  </a:tcPr>
                </a:tc>
                <a:tc>
                  <a:txBody>
                    <a:bodyPr/>
                    <a:lstStyle/>
                    <a:p>
                      <a:r>
                        <a:rPr lang="en-IN" sz="1300" b="0">
                          <a:solidFill>
                            <a:srgbClr val="212121"/>
                          </a:solidFill>
                          <a:latin typeface="Calibri" panose="020F0502020204030204" pitchFamily="34" charset="0"/>
                        </a:rPr>
                        <a:t>Lip-reading pre-training</a:t>
                      </a:r>
                    </a:p>
                  </a:txBody>
                  <a:tcPr marT="38100" marB="38100">
                    <a:solidFill>
                      <a:srgbClr val="F4F5F7"/>
                    </a:solidFill>
                  </a:tcPr>
                </a:tc>
                <a:tc>
                  <a:txBody>
                    <a:bodyPr/>
                    <a:lstStyle/>
                    <a:p>
                      <a:r>
                        <a:rPr lang="en-IN" sz="1300" b="0">
                          <a:solidFill>
                            <a:srgbClr val="212121"/>
                          </a:solidFill>
                          <a:latin typeface="Calibri" panose="020F0502020204030204" pitchFamily="34" charset="0"/>
                        </a:rPr>
                        <a:t>Visual only</a:t>
                      </a:r>
                    </a:p>
                  </a:txBody>
                  <a:tcPr marT="38100" marB="38100">
                    <a:solidFill>
                      <a:srgbClr val="F4F5F7"/>
                    </a:solidFill>
                  </a:tcPr>
                </a:tc>
                <a:extLst>
                  <a:ext uri="{0D108BD9-81ED-4DB2-BD59-A6C34878D82A}">
                    <a16:rowId xmlns:a16="http://schemas.microsoft.com/office/drawing/2014/main" val="1748370045"/>
                  </a:ext>
                </a:extLst>
              </a:tr>
              <a:tr h="476250">
                <a:tc>
                  <a:txBody>
                    <a:bodyPr/>
                    <a:lstStyle/>
                    <a:p>
                      <a:r>
                        <a:rPr lang="en-IN" sz="1300" b="0">
                          <a:solidFill>
                            <a:srgbClr val="212121"/>
                          </a:solidFill>
                          <a:latin typeface="Calibri" panose="020F0502020204030204" pitchFamily="34" charset="0"/>
                        </a:rPr>
                        <a:t>RawNet2 [14], AASIST [15]</a:t>
                      </a:r>
                    </a:p>
                  </a:txBody>
                  <a:tcPr marT="38100" marB="38100">
                    <a:solidFill>
                      <a:srgbClr val="FFFFFF"/>
                    </a:solidFill>
                  </a:tcPr>
                </a:tc>
                <a:tc>
                  <a:txBody>
                    <a:bodyPr/>
                    <a:lstStyle/>
                    <a:p>
                      <a:r>
                        <a:rPr lang="en-IN" sz="1300" b="0">
                          <a:solidFill>
                            <a:srgbClr val="212121"/>
                          </a:solidFill>
                          <a:latin typeface="Calibri" panose="020F0502020204030204" pitchFamily="34" charset="0"/>
                        </a:rPr>
                        <a:t>Audio</a:t>
                      </a:r>
                    </a:p>
                  </a:txBody>
                  <a:tcPr marT="38100" marB="38100">
                    <a:solidFill>
                      <a:srgbClr val="FFFFFF"/>
                    </a:solidFill>
                  </a:tcPr>
                </a:tc>
                <a:tc>
                  <a:txBody>
                    <a:bodyPr/>
                    <a:lstStyle/>
                    <a:p>
                      <a:r>
                        <a:rPr lang="en-IN" sz="1300" b="0">
                          <a:solidFill>
                            <a:srgbClr val="212121"/>
                          </a:solidFill>
                          <a:latin typeface="Calibri" panose="020F0502020204030204" pitchFamily="34" charset="0"/>
                        </a:rPr>
                        <a:t>Raw-waveform / graph-attention anti-spoofing</a:t>
                      </a:r>
                    </a:p>
                  </a:txBody>
                  <a:tcPr marT="38100" marB="38100">
                    <a:solidFill>
                      <a:srgbClr val="FFFFFF"/>
                    </a:solidFill>
                  </a:tcPr>
                </a:tc>
                <a:tc>
                  <a:txBody>
                    <a:bodyPr/>
                    <a:lstStyle/>
                    <a:p>
                      <a:r>
                        <a:rPr lang="en-IN" sz="1300" b="0">
                          <a:solidFill>
                            <a:srgbClr val="212121"/>
                          </a:solidFill>
                          <a:latin typeface="Calibri" panose="020F0502020204030204" pitchFamily="34" charset="0"/>
                        </a:rPr>
                        <a:t>Audio only</a:t>
                      </a:r>
                    </a:p>
                  </a:txBody>
                  <a:tcPr marT="38100" marB="38100">
                    <a:solidFill>
                      <a:srgbClr val="FFFFFF"/>
                    </a:solidFill>
                  </a:tcPr>
                </a:tc>
                <a:extLst>
                  <a:ext uri="{0D108BD9-81ED-4DB2-BD59-A6C34878D82A}">
                    <a16:rowId xmlns:a16="http://schemas.microsoft.com/office/drawing/2014/main" val="29110020"/>
                  </a:ext>
                </a:extLst>
              </a:tr>
              <a:tr h="476250">
                <a:tc>
                  <a:txBody>
                    <a:bodyPr/>
                    <a:lstStyle/>
                    <a:p>
                      <a:r>
                        <a:rPr lang="en-IN" sz="1300" b="0">
                          <a:solidFill>
                            <a:srgbClr val="212121"/>
                          </a:solidFill>
                          <a:latin typeface="Calibri" panose="020F0502020204030204" pitchFamily="34" charset="0"/>
                        </a:rPr>
                        <a:t>Emotions [25], MDS [26]</a:t>
                      </a:r>
                    </a:p>
                  </a:txBody>
                  <a:tcPr marT="38100" marB="38100">
                    <a:solidFill>
                      <a:srgbClr val="F4F5F7"/>
                    </a:solidFill>
                  </a:tcPr>
                </a:tc>
                <a:tc>
                  <a:txBody>
                    <a:bodyPr/>
                    <a:lstStyle/>
                    <a:p>
                      <a:r>
                        <a:rPr lang="en-IN" sz="1300" b="0">
                          <a:solidFill>
                            <a:srgbClr val="212121"/>
                          </a:solidFill>
                          <a:latin typeface="Calibri" panose="020F0502020204030204" pitchFamily="34" charset="0"/>
                        </a:rPr>
                        <a:t>Audio + video</a:t>
                      </a:r>
                    </a:p>
                  </a:txBody>
                  <a:tcPr marT="38100" marB="38100">
                    <a:solidFill>
                      <a:srgbClr val="F4F5F7"/>
                    </a:solidFill>
                  </a:tcPr>
                </a:tc>
                <a:tc>
                  <a:txBody>
                    <a:bodyPr/>
                    <a:lstStyle/>
                    <a:p>
                      <a:r>
                        <a:rPr lang="en-IN" sz="1300" b="0">
                          <a:solidFill>
                            <a:srgbClr val="212121"/>
                          </a:solidFill>
                          <a:latin typeface="Calibri" panose="020F0502020204030204" pitchFamily="34" charset="0"/>
                        </a:rPr>
                        <a:t>Joint audio-visual consistency</a:t>
                      </a:r>
                    </a:p>
                  </a:txBody>
                  <a:tcPr marT="38100" marB="38100">
                    <a:solidFill>
                      <a:srgbClr val="F4F5F7"/>
                    </a:solidFill>
                  </a:tcPr>
                </a:tc>
                <a:tc>
                  <a:txBody>
                    <a:bodyPr/>
                    <a:lstStyle/>
                    <a:p>
                      <a:r>
                        <a:rPr lang="en-US" sz="1300" b="0">
                          <a:solidFill>
                            <a:srgbClr val="212121"/>
                          </a:solidFill>
                          <a:latin typeface="Calibri" panose="020F0502020204030204" pitchFamily="34" charset="0"/>
                        </a:rPr>
                        <a:t>Less clear which modality was faked</a:t>
                      </a:r>
                      <a:endParaRPr lang="en-IN" sz="1300" b="0">
                        <a:solidFill>
                          <a:srgbClr val="212121"/>
                        </a:solidFill>
                        <a:latin typeface="Calibri" panose="020F0502020204030204" pitchFamily="34" charset="0"/>
                      </a:endParaRPr>
                    </a:p>
                  </a:txBody>
                  <a:tcPr marT="38100" marB="38100">
                    <a:solidFill>
                      <a:srgbClr val="F4F5F7"/>
                    </a:solidFill>
                  </a:tcPr>
                </a:tc>
                <a:extLst>
                  <a:ext uri="{0D108BD9-81ED-4DB2-BD59-A6C34878D82A}">
                    <a16:rowId xmlns:a16="http://schemas.microsoft.com/office/drawing/2014/main" val="2762367371"/>
                  </a:ext>
                </a:extLst>
              </a:tr>
              <a:tr h="476250">
                <a:tc>
                  <a:txBody>
                    <a:bodyPr/>
                    <a:lstStyle/>
                    <a:p>
                      <a:r>
                        <a:rPr lang="en-IN" sz="1300" b="1">
                          <a:solidFill>
                            <a:srgbClr val="212121"/>
                          </a:solidFill>
                          <a:latin typeface="Calibri" panose="020F0502020204030204" pitchFamily="34" charset="0"/>
                        </a:rPr>
                        <a:t>VERITAS</a:t>
                      </a:r>
                    </a:p>
                  </a:txBody>
                  <a:tcPr marT="38100" marB="38100">
                    <a:solidFill>
                      <a:srgbClr val="FDECEE"/>
                    </a:solidFill>
                  </a:tcPr>
                </a:tc>
                <a:tc>
                  <a:txBody>
                    <a:bodyPr/>
                    <a:lstStyle/>
                    <a:p>
                      <a:r>
                        <a:rPr lang="en-IN" sz="1300" b="1">
                          <a:solidFill>
                            <a:srgbClr val="212121"/>
                          </a:solidFill>
                          <a:latin typeface="Calibri" panose="020F0502020204030204" pitchFamily="34" charset="0"/>
                        </a:rPr>
                        <a:t>Image, video, audio</a:t>
                      </a:r>
                    </a:p>
                  </a:txBody>
                  <a:tcPr marT="38100" marB="38100">
                    <a:solidFill>
                      <a:srgbClr val="FDECEE"/>
                    </a:solidFill>
                  </a:tcPr>
                </a:tc>
                <a:tc>
                  <a:txBody>
                    <a:bodyPr/>
                    <a:lstStyle/>
                    <a:p>
                      <a:r>
                        <a:rPr lang="en-US" sz="1300" b="1">
                          <a:solidFill>
                            <a:srgbClr val="212121"/>
                          </a:solidFill>
                          <a:latin typeface="Calibri" panose="020F0502020204030204" pitchFamily="34" charset="0"/>
                        </a:rPr>
                        <a:t>Per-modality detectors + transparent fusion with abstention</a:t>
                      </a:r>
                      <a:endParaRPr lang="en-IN" sz="1300" b="1">
                        <a:solidFill>
                          <a:srgbClr val="212121"/>
                        </a:solidFill>
                        <a:latin typeface="Calibri" panose="020F0502020204030204" pitchFamily="34" charset="0"/>
                      </a:endParaRPr>
                    </a:p>
                  </a:txBody>
                  <a:tcPr marT="38100" marB="38100">
                    <a:solidFill>
                      <a:srgbClr val="FDECEE"/>
                    </a:solidFill>
                  </a:tcPr>
                </a:tc>
                <a:tc>
                  <a:txBody>
                    <a:bodyPr/>
                    <a:lstStyle/>
                    <a:p>
                      <a:r>
                        <a:rPr lang="en-US" sz="1300" b="1">
                          <a:solidFill>
                            <a:srgbClr val="212121"/>
                          </a:solidFill>
                          <a:latin typeface="Calibri" panose="020F0502020204030204" pitchFamily="34" charset="0"/>
                        </a:rPr>
                        <a:t>Fixed rule; temporal not robust</a:t>
                      </a:r>
                      <a:endParaRPr lang="en-IN" sz="1300" b="1">
                        <a:solidFill>
                          <a:srgbClr val="212121"/>
                        </a:solidFill>
                        <a:latin typeface="Calibri" panose="020F0502020204030204" pitchFamily="34" charset="0"/>
                      </a:endParaRPr>
                    </a:p>
                  </a:txBody>
                  <a:tcPr marT="38100" marB="38100">
                    <a:solidFill>
                      <a:srgbClr val="FDECEE"/>
                    </a:solidFill>
                  </a:tcPr>
                </a:tc>
                <a:extLst>
                  <a:ext uri="{0D108BD9-81ED-4DB2-BD59-A6C34878D82A}">
                    <a16:rowId xmlns:a16="http://schemas.microsoft.com/office/drawing/2014/main" val="647716334"/>
                  </a:ext>
                </a:extLst>
              </a:tr>
            </a:tbl>
          </a:graphicData>
        </a:graphic>
      </p:graphicFrame>
      <p:sp>
        <p:nvSpPr>
          <p:cNvPr id="8" name="TextBox 7">
            <a:extLst>
              <a:ext uri="{FF2B5EF4-FFF2-40B4-BE49-F238E27FC236}">
                <a16:creationId xmlns:a16="http://schemas.microsoft.com/office/drawing/2014/main" id="{273C3DDD-23BA-384F-CB23-15ACD854978D}"/>
              </a:ext>
            </a:extLst>
          </p:cNvPr>
          <p:cNvSpPr txBox="1"/>
          <p:nvPr/>
        </p:nvSpPr>
        <p:spPr>
          <a:xfrm>
            <a:off x="508000" y="5867400"/>
            <a:ext cx="11176000" cy="369332"/>
          </a:xfrm>
          <a:prstGeom prst="rect">
            <a:avLst/>
          </a:prstGeom>
          <a:noFill/>
        </p:spPr>
        <p:txBody>
          <a:bodyPr vert="horz" wrap="square" lIns="50800" tIns="25400" rIns="50800" bIns="25400" rtlCol="0">
            <a:noAutofit/>
          </a:bodyPr>
          <a:lstStyle/>
          <a:p>
            <a:r>
              <a:rPr lang="en-US" sz="1400" b="1">
                <a:solidFill>
                  <a:srgbClr val="B00020"/>
                </a:solidFill>
                <a:latin typeface="Calibri" panose="020F0502020204030204" pitchFamily="34" charset="0"/>
              </a:rPr>
              <a:t>Gap: single-modality detectors, binary answers without abstention, and robustness to re-encoding rarely measured when choosing a deployed model.</a:t>
            </a:r>
            <a:endParaRPr lang="en-IN" sz="1400" b="1">
              <a:solidFill>
                <a:srgbClr val="B00020"/>
              </a:solidFill>
              <a:latin typeface="Calibri" panose="020F0502020204030204" pitchFamily="34" charset="0"/>
            </a:endParaRPr>
          </a:p>
        </p:txBody>
      </p:sp>
    </p:spTree>
    <p:extLst>
      <p:ext uri="{BB962C8B-B14F-4D97-AF65-F5344CB8AC3E}">
        <p14:creationId xmlns:p14="http://schemas.microsoft.com/office/powerpoint/2010/main" val="1159501797"/>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PROPOSED SYSTEM ARCHITECTURE</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BFE787DA-BCE1-6143-DCFA-59F84595AA35}"/>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E90ECCD9-5BA7-AEC4-E08C-2D2DB73F8D5F}"/>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58929726-E3CF-8924-E19B-C8730DA17DCF}"/>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6</a:t>
            </a:r>
          </a:p>
        </p:txBody>
      </p:sp>
      <p:sp>
        <p:nvSpPr>
          <p:cNvPr id="7" name="Rectangle: Rounded Corners 6">
            <a:extLst>
              <a:ext uri="{FF2B5EF4-FFF2-40B4-BE49-F238E27FC236}">
                <a16:creationId xmlns:a16="http://schemas.microsoft.com/office/drawing/2014/main" id="{2E03C6AF-AB91-C342-EF11-29FC30C662B0}"/>
              </a:ext>
            </a:extLst>
          </p:cNvPr>
          <p:cNvSpPr/>
          <p:nvPr/>
        </p:nvSpPr>
        <p:spPr>
          <a:xfrm>
            <a:off x="508000" y="1981200"/>
            <a:ext cx="11176000" cy="508000"/>
          </a:xfrm>
          <a:prstGeom prst="roundRect">
            <a:avLst>
              <a:gd name="adj" fmla="val 12000"/>
            </a:avLst>
          </a:prstGeom>
          <a:solidFill>
            <a:srgbClr val="EEF2F7"/>
          </a:solidFill>
          <a:ln w="15875">
            <a:solidFill>
              <a:srgbClr val="1F3A5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US" sz="1500">
                <a:solidFill>
                  <a:srgbClr val="212121"/>
                </a:solidFill>
                <a:latin typeface="Calibri" panose="020F0502020204030204" pitchFamily="34" charset="0"/>
              </a:rPr>
              <a:t>Browser: React 19 + Vite console  -  upload, live progress, verdict, JSON report</a:t>
            </a:r>
            <a:endParaRPr lang="en-IN" sz="1500">
              <a:solidFill>
                <a:srgbClr val="212121"/>
              </a:solidFill>
              <a:latin typeface="Calibri" panose="020F0502020204030204" pitchFamily="34" charset="0"/>
            </a:endParaRPr>
          </a:p>
        </p:txBody>
      </p:sp>
      <p:cxnSp>
        <p:nvCxnSpPr>
          <p:cNvPr id="8" name="Straight Arrow Connector 7">
            <a:extLst>
              <a:ext uri="{FF2B5EF4-FFF2-40B4-BE49-F238E27FC236}">
                <a16:creationId xmlns:a16="http://schemas.microsoft.com/office/drawing/2014/main" id="{6BC6B00A-C19B-7648-D98B-CB7F149EDF2E}"/>
              </a:ext>
            </a:extLst>
          </p:cNvPr>
          <p:cNvCxnSpPr/>
          <p:nvPr/>
        </p:nvCxnSpPr>
        <p:spPr>
          <a:xfrm>
            <a:off x="6096000" y="24892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60EF09-C654-A5A1-51FC-E2953F9F99C0}"/>
              </a:ext>
            </a:extLst>
          </p:cNvPr>
          <p:cNvSpPr txBox="1"/>
          <p:nvPr/>
        </p:nvSpPr>
        <p:spPr>
          <a:xfrm>
            <a:off x="6223000" y="2463800"/>
            <a:ext cx="2794000" cy="369332"/>
          </a:xfrm>
          <a:prstGeom prst="rect">
            <a:avLst/>
          </a:prstGeom>
          <a:noFill/>
        </p:spPr>
        <p:txBody>
          <a:bodyPr vert="horz" wrap="square" lIns="50800" tIns="25400" rIns="50800" bIns="25400" rtlCol="0">
            <a:noAutofit/>
          </a:bodyPr>
          <a:lstStyle/>
          <a:p>
            <a:r>
              <a:rPr lang="en-IN" sz="1100">
                <a:solidFill>
                  <a:srgbClr val="6E6E6E"/>
                </a:solidFill>
                <a:latin typeface="Calibri" panose="020F0502020204030204" pitchFamily="34" charset="0"/>
              </a:rPr>
              <a:t>POST /api/analyse/stream</a:t>
            </a:r>
          </a:p>
        </p:txBody>
      </p:sp>
      <p:sp>
        <p:nvSpPr>
          <p:cNvPr id="10" name="Rectangle: Rounded Corners 9">
            <a:extLst>
              <a:ext uri="{FF2B5EF4-FFF2-40B4-BE49-F238E27FC236}">
                <a16:creationId xmlns:a16="http://schemas.microsoft.com/office/drawing/2014/main" id="{E550A547-655E-81C0-0E05-D943F72004C3}"/>
              </a:ext>
            </a:extLst>
          </p:cNvPr>
          <p:cNvSpPr/>
          <p:nvPr/>
        </p:nvSpPr>
        <p:spPr>
          <a:xfrm>
            <a:off x="508000" y="2717800"/>
            <a:ext cx="11176000" cy="508000"/>
          </a:xfrm>
          <a:prstGeom prst="roundRect">
            <a:avLst>
              <a:gd name="adj" fmla="val 12000"/>
            </a:avLst>
          </a:prstGeom>
          <a:solidFill>
            <a:srgbClr val="FFFFFF"/>
          </a:solidFill>
          <a:ln w="15875">
            <a:solidFill>
              <a:srgbClr val="1F3A5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500">
                <a:solidFill>
                  <a:srgbClr val="212121"/>
                </a:solidFill>
                <a:latin typeface="Calibri" panose="020F0502020204030204" pitchFamily="34" charset="0"/>
              </a:rPr>
              <a:t>FastAPI backend: 50 MB limit, routing by file type, YuNet face crop, ffmpeg audio → 16 kHz mono</a:t>
            </a:r>
          </a:p>
        </p:txBody>
      </p:sp>
      <p:cxnSp>
        <p:nvCxnSpPr>
          <p:cNvPr id="11" name="Straight Arrow Connector 10">
            <a:extLst>
              <a:ext uri="{FF2B5EF4-FFF2-40B4-BE49-F238E27FC236}">
                <a16:creationId xmlns:a16="http://schemas.microsoft.com/office/drawing/2014/main" id="{FFC75A0A-5579-21A9-DD12-8F042A9DF682}"/>
              </a:ext>
            </a:extLst>
          </p:cNvPr>
          <p:cNvCxnSpPr/>
          <p:nvPr/>
        </p:nvCxnSpPr>
        <p:spPr>
          <a:xfrm>
            <a:off x="1828800" y="32258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18EA7586-7FBC-5B08-CA9C-08206FF3CEF7}"/>
              </a:ext>
            </a:extLst>
          </p:cNvPr>
          <p:cNvSpPr/>
          <p:nvPr/>
        </p:nvSpPr>
        <p:spPr>
          <a:xfrm>
            <a:off x="508000" y="3454400"/>
            <a:ext cx="2641600" cy="9652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600" b="1">
                <a:solidFill>
                  <a:srgbClr val="212121"/>
                </a:solidFill>
                <a:latin typeface="Calibri" panose="020F0502020204030204" pitchFamily="34" charset="0"/>
              </a:rPr>
              <a:t>Spatial</a:t>
            </a:r>
          </a:p>
          <a:p>
            <a:pPr algn="ctr"/>
            <a:r>
              <a:rPr lang="en-IN" sz="1300">
                <a:solidFill>
                  <a:srgbClr val="212121"/>
                </a:solidFill>
                <a:latin typeface="Calibri" panose="020F0502020204030204" pitchFamily="34" charset="0"/>
              </a:rPr>
              <a:t>EfficientNet-B0</a:t>
            </a:r>
          </a:p>
          <a:p>
            <a:pPr algn="ctr"/>
            <a:r>
              <a:rPr lang="en-IN" sz="1300">
                <a:solidFill>
                  <a:srgbClr val="212121"/>
                </a:solidFill>
                <a:latin typeface="Calibri" panose="020F0502020204030204" pitchFamily="34" charset="0"/>
              </a:rPr>
              <a:t>224×224 face crop</a:t>
            </a:r>
          </a:p>
        </p:txBody>
      </p:sp>
      <p:cxnSp>
        <p:nvCxnSpPr>
          <p:cNvPr id="13" name="Straight Arrow Connector 12">
            <a:extLst>
              <a:ext uri="{FF2B5EF4-FFF2-40B4-BE49-F238E27FC236}">
                <a16:creationId xmlns:a16="http://schemas.microsoft.com/office/drawing/2014/main" id="{69A8BE39-02B8-DD23-89F7-E0DE1CF585E1}"/>
              </a:ext>
            </a:extLst>
          </p:cNvPr>
          <p:cNvCxnSpPr/>
          <p:nvPr/>
        </p:nvCxnSpPr>
        <p:spPr>
          <a:xfrm>
            <a:off x="4673600" y="32258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01AADA3A-9DB1-5B50-B39C-0BD2B43E4270}"/>
              </a:ext>
            </a:extLst>
          </p:cNvPr>
          <p:cNvSpPr/>
          <p:nvPr/>
        </p:nvSpPr>
        <p:spPr>
          <a:xfrm>
            <a:off x="3352800" y="3454400"/>
            <a:ext cx="2641600" cy="9652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pt-BR" sz="1600" b="1">
                <a:solidFill>
                  <a:srgbClr val="212121"/>
                </a:solidFill>
                <a:latin typeface="Calibri" panose="020F0502020204030204" pitchFamily="34" charset="0"/>
              </a:rPr>
              <a:t>Temporal</a:t>
            </a:r>
          </a:p>
          <a:p>
            <a:pPr algn="ctr"/>
            <a:r>
              <a:rPr lang="pt-BR" sz="1300">
                <a:solidFill>
                  <a:srgbClr val="212121"/>
                </a:solidFill>
                <a:latin typeface="Calibri" panose="020F0502020204030204" pitchFamily="34" charset="0"/>
              </a:rPr>
              <a:t>R3D-18</a:t>
            </a:r>
          </a:p>
          <a:p>
            <a:pPr algn="ctr"/>
            <a:r>
              <a:rPr lang="pt-BR" sz="1300">
                <a:solidFill>
                  <a:srgbClr val="212121"/>
                </a:solidFill>
                <a:latin typeface="Calibri" panose="020F0502020204030204" pitchFamily="34" charset="0"/>
              </a:rPr>
              <a:t>16 frames, 112×112</a:t>
            </a:r>
            <a:endParaRPr lang="en-IN" sz="1300">
              <a:solidFill>
                <a:srgbClr val="212121"/>
              </a:solidFill>
              <a:latin typeface="Calibri" panose="020F0502020204030204" pitchFamily="34" charset="0"/>
            </a:endParaRPr>
          </a:p>
        </p:txBody>
      </p:sp>
      <p:cxnSp>
        <p:nvCxnSpPr>
          <p:cNvPr id="15" name="Straight Arrow Connector 14">
            <a:extLst>
              <a:ext uri="{FF2B5EF4-FFF2-40B4-BE49-F238E27FC236}">
                <a16:creationId xmlns:a16="http://schemas.microsoft.com/office/drawing/2014/main" id="{5E4F7966-BDDB-D939-0DFD-D5F9EAF5077C}"/>
              </a:ext>
            </a:extLst>
          </p:cNvPr>
          <p:cNvCxnSpPr/>
          <p:nvPr/>
        </p:nvCxnSpPr>
        <p:spPr>
          <a:xfrm>
            <a:off x="7518400" y="32258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19F1DC7C-D467-3A8C-7FCF-7DB8CD80FA28}"/>
              </a:ext>
            </a:extLst>
          </p:cNvPr>
          <p:cNvSpPr/>
          <p:nvPr/>
        </p:nvSpPr>
        <p:spPr>
          <a:xfrm>
            <a:off x="6197600" y="3454400"/>
            <a:ext cx="2641600" cy="9652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600" b="1">
                <a:solidFill>
                  <a:srgbClr val="212121"/>
                </a:solidFill>
                <a:latin typeface="Calibri" panose="020F0502020204030204" pitchFamily="34" charset="0"/>
              </a:rPr>
              <a:t>Audio</a:t>
            </a:r>
          </a:p>
          <a:p>
            <a:pPr algn="ctr"/>
            <a:r>
              <a:rPr lang="en-IN" sz="1300">
                <a:solidFill>
                  <a:srgbClr val="212121"/>
                </a:solidFill>
                <a:latin typeface="Calibri" panose="020F0502020204030204" pitchFamily="34" charset="0"/>
              </a:rPr>
              <a:t>EfficientNet-B0</a:t>
            </a:r>
          </a:p>
          <a:p>
            <a:pPr algn="ctr"/>
            <a:r>
              <a:rPr lang="en-IN" sz="1300">
                <a:solidFill>
                  <a:srgbClr val="212121"/>
                </a:solidFill>
                <a:latin typeface="Calibri" panose="020F0502020204030204" pitchFamily="34" charset="0"/>
              </a:rPr>
              <a:t>128-band log-mel, 3 s</a:t>
            </a:r>
          </a:p>
        </p:txBody>
      </p:sp>
      <p:cxnSp>
        <p:nvCxnSpPr>
          <p:cNvPr id="17" name="Straight Arrow Connector 16">
            <a:extLst>
              <a:ext uri="{FF2B5EF4-FFF2-40B4-BE49-F238E27FC236}">
                <a16:creationId xmlns:a16="http://schemas.microsoft.com/office/drawing/2014/main" id="{9F6DD217-9FA9-51BD-D5CF-CB2D3C73E8DD}"/>
              </a:ext>
            </a:extLst>
          </p:cNvPr>
          <p:cNvCxnSpPr/>
          <p:nvPr/>
        </p:nvCxnSpPr>
        <p:spPr>
          <a:xfrm>
            <a:off x="10363200" y="32258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2DDA9ABD-68A4-A74B-98B3-8921228E43CB}"/>
              </a:ext>
            </a:extLst>
          </p:cNvPr>
          <p:cNvSpPr/>
          <p:nvPr/>
        </p:nvSpPr>
        <p:spPr>
          <a:xfrm>
            <a:off x="9042400" y="3454400"/>
            <a:ext cx="2641600" cy="965200"/>
          </a:xfrm>
          <a:prstGeom prst="roundRect">
            <a:avLst>
              <a:gd name="adj" fmla="val 12000"/>
            </a:avLst>
          </a:prstGeom>
          <a:solidFill>
            <a:srgbClr val="F4F5F7"/>
          </a:solidFill>
          <a:ln w="15875">
            <a:solidFill>
              <a:srgbClr val="6E6E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US" sz="1600" b="1">
                <a:solidFill>
                  <a:srgbClr val="212121"/>
                </a:solidFill>
                <a:latin typeface="Calibri" panose="020F0502020204030204" pitchFamily="34" charset="0"/>
              </a:rPr>
              <a:t>Context</a:t>
            </a:r>
          </a:p>
          <a:p>
            <a:pPr algn="ctr"/>
            <a:r>
              <a:rPr lang="en-US" sz="1300">
                <a:solidFill>
                  <a:srgbClr val="212121"/>
                </a:solidFill>
                <a:latin typeface="Calibri" panose="020F0502020204030204" pitchFamily="34" charset="0"/>
              </a:rPr>
              <a:t>Explanation only</a:t>
            </a:r>
          </a:p>
          <a:p>
            <a:pPr algn="ctr"/>
            <a:r>
              <a:rPr lang="en-US" sz="1300">
                <a:solidFill>
                  <a:srgbClr val="212121"/>
                </a:solidFill>
                <a:latin typeface="Calibri" panose="020F0502020204030204" pitchFamily="34" charset="0"/>
              </a:rPr>
              <a:t>never votes</a:t>
            </a:r>
            <a:endParaRPr lang="en-IN" sz="1300">
              <a:solidFill>
                <a:srgbClr val="212121"/>
              </a:solidFill>
              <a:latin typeface="Calibri" panose="020F0502020204030204" pitchFamily="34" charset="0"/>
            </a:endParaRPr>
          </a:p>
        </p:txBody>
      </p:sp>
      <p:cxnSp>
        <p:nvCxnSpPr>
          <p:cNvPr id="19" name="Straight Arrow Connector 18">
            <a:extLst>
              <a:ext uri="{FF2B5EF4-FFF2-40B4-BE49-F238E27FC236}">
                <a16:creationId xmlns:a16="http://schemas.microsoft.com/office/drawing/2014/main" id="{1CD02848-BCFC-35FD-8F06-A4C3BCE5B010}"/>
              </a:ext>
            </a:extLst>
          </p:cNvPr>
          <p:cNvCxnSpPr/>
          <p:nvPr/>
        </p:nvCxnSpPr>
        <p:spPr>
          <a:xfrm>
            <a:off x="1828800" y="44196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8628D90-4CAA-6D0A-EFB7-D58D8B8E46BB}"/>
              </a:ext>
            </a:extLst>
          </p:cNvPr>
          <p:cNvCxnSpPr/>
          <p:nvPr/>
        </p:nvCxnSpPr>
        <p:spPr>
          <a:xfrm>
            <a:off x="4673600" y="44196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36D4EFE-37A1-6DA1-B3FC-6CF6024E8D24}"/>
              </a:ext>
            </a:extLst>
          </p:cNvPr>
          <p:cNvCxnSpPr/>
          <p:nvPr/>
        </p:nvCxnSpPr>
        <p:spPr>
          <a:xfrm>
            <a:off x="7518400" y="4419600"/>
            <a:ext cx="0" cy="2286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32C033E0-91FD-5517-D8BB-61C62A6D9FB4}"/>
              </a:ext>
            </a:extLst>
          </p:cNvPr>
          <p:cNvSpPr/>
          <p:nvPr/>
        </p:nvSpPr>
        <p:spPr>
          <a:xfrm>
            <a:off x="508000" y="4648200"/>
            <a:ext cx="8331200" cy="711200"/>
          </a:xfrm>
          <a:prstGeom prst="roundRect">
            <a:avLst>
              <a:gd name="adj" fmla="val 12000"/>
            </a:avLst>
          </a:prstGeom>
          <a:solidFill>
            <a:srgbClr val="FFFFFF"/>
          </a:solidFill>
          <a:ln w="15875">
            <a:solidFill>
              <a:srgbClr val="1F3A5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400">
                <a:solidFill>
                  <a:srgbClr val="212121"/>
                </a:solidFill>
                <a:latin typeface="Calibri" panose="020F0502020204030204" pitchFamily="34" charset="0"/>
              </a:rPr>
              <a:t>corrected_fixed fusion:  P_visual = (0.40 sp + 0.30 te) / 0.70     P_fake = 1 − (1 − P_visual)(1 − P_audio)</a:t>
            </a:r>
          </a:p>
        </p:txBody>
      </p:sp>
      <p:cxnSp>
        <p:nvCxnSpPr>
          <p:cNvPr id="23" name="Straight Arrow Connector 22">
            <a:extLst>
              <a:ext uri="{FF2B5EF4-FFF2-40B4-BE49-F238E27FC236}">
                <a16:creationId xmlns:a16="http://schemas.microsoft.com/office/drawing/2014/main" id="{FAACB97D-DFEB-68FE-C148-F47006D9144E}"/>
              </a:ext>
            </a:extLst>
          </p:cNvPr>
          <p:cNvCxnSpPr/>
          <p:nvPr/>
        </p:nvCxnSpPr>
        <p:spPr>
          <a:xfrm>
            <a:off x="10363200" y="4419600"/>
            <a:ext cx="0" cy="11430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DA67BEF-2731-2BA3-F708-939EF72D2CF5}"/>
              </a:ext>
            </a:extLst>
          </p:cNvPr>
          <p:cNvCxnSpPr/>
          <p:nvPr/>
        </p:nvCxnSpPr>
        <p:spPr>
          <a:xfrm>
            <a:off x="4673600" y="53594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556DCBED-3519-547D-7FE8-5A76EF9A928B}"/>
              </a:ext>
            </a:extLst>
          </p:cNvPr>
          <p:cNvSpPr/>
          <p:nvPr/>
        </p:nvSpPr>
        <p:spPr>
          <a:xfrm>
            <a:off x="508000" y="5562600"/>
            <a:ext cx="11176000" cy="660400"/>
          </a:xfrm>
          <a:prstGeom prst="roundRect">
            <a:avLst>
              <a:gd name="adj" fmla="val 12000"/>
            </a:avLst>
          </a:prstGeom>
          <a:solidFill>
            <a:srgbClr val="EEF2F7"/>
          </a:solidFill>
          <a:ln w="15875">
            <a:solidFill>
              <a:srgbClr val="1F3A5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US" sz="1500">
                <a:solidFill>
                  <a:srgbClr val="212121"/>
                </a:solidFill>
                <a:latin typeface="Calibri" panose="020F0502020204030204" pitchFamily="34" charset="0"/>
              </a:rPr>
              <a:t>NDJSON stream: 4 agent results → final verdict (score, verdict, manipulation type) → done</a:t>
            </a:r>
            <a:endParaRPr lang="en-IN" sz="1500">
              <a:solidFill>
                <a:srgbClr val="212121"/>
              </a:solidFill>
              <a:latin typeface="Calibri" panose="020F0502020204030204" pitchFamily="34" charset="0"/>
            </a:endParaRPr>
          </a:p>
        </p:txBody>
      </p:sp>
    </p:spTree>
    <p:extLst>
      <p:ext uri="{BB962C8B-B14F-4D97-AF65-F5344CB8AC3E}">
        <p14:creationId xmlns:p14="http://schemas.microsoft.com/office/powerpoint/2010/main" val="286700402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SPATIAL DETECTOR: EFFICIENTNET-B0</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4CC2E769-08C4-675F-03EA-D93B61B88190}"/>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0B26A7C5-2AFC-5E75-9B99-E74C58FB3485}"/>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AA666C65-80B4-56C2-2119-907E72A99193}"/>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7</a:t>
            </a:r>
          </a:p>
        </p:txBody>
      </p:sp>
      <p:sp>
        <p:nvSpPr>
          <p:cNvPr id="7" name="Rectangle: Rounded Corners 6">
            <a:extLst>
              <a:ext uri="{FF2B5EF4-FFF2-40B4-BE49-F238E27FC236}">
                <a16:creationId xmlns:a16="http://schemas.microsoft.com/office/drawing/2014/main" id="{4B10DBE5-EBC1-727D-D8DD-A8D878252C93}"/>
              </a:ext>
            </a:extLst>
          </p:cNvPr>
          <p:cNvSpPr/>
          <p:nvPr/>
        </p:nvSpPr>
        <p:spPr>
          <a:xfrm>
            <a:off x="508000" y="20320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Image or middle video frame</a:t>
            </a:r>
          </a:p>
        </p:txBody>
      </p:sp>
      <p:cxnSp>
        <p:nvCxnSpPr>
          <p:cNvPr id="8" name="Straight Arrow Connector 7">
            <a:extLst>
              <a:ext uri="{FF2B5EF4-FFF2-40B4-BE49-F238E27FC236}">
                <a16:creationId xmlns:a16="http://schemas.microsoft.com/office/drawing/2014/main" id="{970C37BB-3FE8-4303-FAAD-91663148884A}"/>
              </a:ext>
            </a:extLst>
          </p:cNvPr>
          <p:cNvCxnSpPr/>
          <p:nvPr/>
        </p:nvCxnSpPr>
        <p:spPr>
          <a:xfrm>
            <a:off x="2603500" y="26670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FBFEDEDE-C91C-EAC6-85B2-7E068CCF1A8A}"/>
              </a:ext>
            </a:extLst>
          </p:cNvPr>
          <p:cNvSpPr/>
          <p:nvPr/>
        </p:nvSpPr>
        <p:spPr>
          <a:xfrm>
            <a:off x="508000" y="28702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YuNet face crop (training framing)</a:t>
            </a:r>
          </a:p>
        </p:txBody>
      </p:sp>
      <p:cxnSp>
        <p:nvCxnSpPr>
          <p:cNvPr id="10" name="Straight Arrow Connector 9">
            <a:extLst>
              <a:ext uri="{FF2B5EF4-FFF2-40B4-BE49-F238E27FC236}">
                <a16:creationId xmlns:a16="http://schemas.microsoft.com/office/drawing/2014/main" id="{8283B446-5A07-E6E9-7ABF-C76C84FD4D13}"/>
              </a:ext>
            </a:extLst>
          </p:cNvPr>
          <p:cNvCxnSpPr/>
          <p:nvPr/>
        </p:nvCxnSpPr>
        <p:spPr>
          <a:xfrm>
            <a:off x="2603500" y="35052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E20D0A74-7BE4-ADED-EF15-D60783A684D5}"/>
              </a:ext>
            </a:extLst>
          </p:cNvPr>
          <p:cNvSpPr/>
          <p:nvPr/>
        </p:nvSpPr>
        <p:spPr>
          <a:xfrm>
            <a:off x="508000" y="37084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Resize 224×224, ImageNet normalisation</a:t>
            </a:r>
          </a:p>
        </p:txBody>
      </p:sp>
      <p:cxnSp>
        <p:nvCxnSpPr>
          <p:cNvPr id="12" name="Straight Arrow Connector 11">
            <a:extLst>
              <a:ext uri="{FF2B5EF4-FFF2-40B4-BE49-F238E27FC236}">
                <a16:creationId xmlns:a16="http://schemas.microsoft.com/office/drawing/2014/main" id="{7712DE11-1ED0-9FE5-5022-4C0005A7B837}"/>
              </a:ext>
            </a:extLst>
          </p:cNvPr>
          <p:cNvCxnSpPr/>
          <p:nvPr/>
        </p:nvCxnSpPr>
        <p:spPr>
          <a:xfrm>
            <a:off x="2603500" y="43434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3342EEEF-129D-DADD-576F-4DB655D83FBD}"/>
              </a:ext>
            </a:extLst>
          </p:cNvPr>
          <p:cNvSpPr/>
          <p:nvPr/>
        </p:nvSpPr>
        <p:spPr>
          <a:xfrm>
            <a:off x="508000" y="4546600"/>
            <a:ext cx="4191000" cy="6350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500">
                <a:solidFill>
                  <a:srgbClr val="212121"/>
                </a:solidFill>
                <a:latin typeface="Calibri" panose="020F0502020204030204" pitchFamily="34" charset="0"/>
              </a:rPr>
              <a:t>EfficientNet-B0 [20] + 2-layer head</a:t>
            </a:r>
          </a:p>
        </p:txBody>
      </p:sp>
      <p:cxnSp>
        <p:nvCxnSpPr>
          <p:cNvPr id="14" name="Straight Arrow Connector 13">
            <a:extLst>
              <a:ext uri="{FF2B5EF4-FFF2-40B4-BE49-F238E27FC236}">
                <a16:creationId xmlns:a16="http://schemas.microsoft.com/office/drawing/2014/main" id="{A93311E1-660B-31AF-5C05-76AEBF5A3A50}"/>
              </a:ext>
            </a:extLst>
          </p:cNvPr>
          <p:cNvCxnSpPr/>
          <p:nvPr/>
        </p:nvCxnSpPr>
        <p:spPr>
          <a:xfrm>
            <a:off x="2603500" y="51816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308BA85A-4200-33FF-BCA4-066AC14C1599}"/>
              </a:ext>
            </a:extLst>
          </p:cNvPr>
          <p:cNvSpPr/>
          <p:nvPr/>
        </p:nvSpPr>
        <p:spPr>
          <a:xfrm>
            <a:off x="508000" y="53848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P(fake), threshold 0.50</a:t>
            </a:r>
          </a:p>
        </p:txBody>
      </p:sp>
      <p:sp>
        <p:nvSpPr>
          <p:cNvPr id="16" name="TextBox 15">
            <a:extLst>
              <a:ext uri="{FF2B5EF4-FFF2-40B4-BE49-F238E27FC236}">
                <a16:creationId xmlns:a16="http://schemas.microsoft.com/office/drawing/2014/main" id="{DCA36BFD-DB33-2A59-0875-569AD344CA18}"/>
              </a:ext>
            </a:extLst>
          </p:cNvPr>
          <p:cNvSpPr txBox="1"/>
          <p:nvPr/>
        </p:nvSpPr>
        <p:spPr>
          <a:xfrm>
            <a:off x="5080000" y="2032000"/>
            <a:ext cx="6604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IN" sz="1600">
                <a:solidFill>
                  <a:srgbClr val="212121"/>
                </a:solidFill>
                <a:latin typeface="Calibri" panose="020F0502020204030204" pitchFamily="34" charset="0"/>
              </a:rPr>
              <a:t>Checkpoint: spatial_agent_lc_v2_aug_s0.pth</a:t>
            </a:r>
          </a:p>
          <a:p>
            <a:pPr marL="203200" indent="-203200">
              <a:spcAft>
                <a:spcPts val="600"/>
              </a:spcAft>
              <a:buFont typeface="+mj-lt"/>
              <a:buChar char="•"/>
            </a:pPr>
            <a:r>
              <a:rPr lang="en-IN" sz="1600">
                <a:solidFill>
                  <a:srgbClr val="212121"/>
                </a:solidFill>
                <a:latin typeface="Calibri" panose="020F0502020204030204" pitchFamily="34" charset="0"/>
              </a:rPr>
              <a:t>ImageNet init [21]; AdamW 3e-4, 5 epochs, class-weighted</a:t>
            </a:r>
          </a:p>
          <a:p>
            <a:pPr marL="203200" indent="-203200">
              <a:spcAft>
                <a:spcPts val="600"/>
              </a:spcAft>
              <a:buFont typeface="+mj-lt"/>
              <a:buChar char="•"/>
            </a:pPr>
            <a:r>
              <a:rPr lang="en-IN" sz="1600">
                <a:solidFill>
                  <a:srgbClr val="212121"/>
                </a:solidFill>
                <a:latin typeface="Calibri" panose="020F0502020204030204" pitchFamily="34" charset="0"/>
              </a:rPr>
              <a:t>Augmentation: H.264 CRF 24–38, JPEG q25–95, rescale ×0.3–0.9, blur </a:t>
            </a:r>
            <a:r>
              <a:rPr lang="el-GR" sz="1600">
                <a:solidFill>
                  <a:srgbClr val="212121"/>
                </a:solidFill>
                <a:latin typeface="Calibri" panose="020F0502020204030204" pitchFamily="34" charset="0"/>
              </a:rPr>
              <a:t>σ 0.3–1.8, </a:t>
            </a:r>
            <a:r>
              <a:rPr lang="en-IN" sz="1600">
                <a:solidFill>
                  <a:srgbClr val="212121"/>
                </a:solidFill>
                <a:latin typeface="Calibri" panose="020F0502020204030204" pitchFamily="34" charset="0"/>
              </a:rPr>
              <a:t>crop jitter, colour, flip</a:t>
            </a:r>
          </a:p>
          <a:p>
            <a:pPr marL="203200" indent="-203200">
              <a:spcAft>
                <a:spcPts val="600"/>
              </a:spcAft>
              <a:buFont typeface="+mj-lt"/>
              <a:buChar char="•"/>
            </a:pPr>
            <a:r>
              <a:rPr lang="en-IN" sz="1600">
                <a:solidFill>
                  <a:srgbClr val="212121"/>
                </a:solidFill>
                <a:latin typeface="Calibri" panose="020F0502020204030204" pitchFamily="34" charset="0"/>
              </a:rPr>
              <a:t>Selected on mean detector_val AUC over clean, JPEG, half-scale and H.264 copies</a:t>
            </a:r>
          </a:p>
          <a:p>
            <a:pPr marL="203200" indent="-203200">
              <a:spcAft>
                <a:spcPts val="600"/>
              </a:spcAft>
              <a:buFont typeface="+mj-lt"/>
              <a:buChar char="•"/>
            </a:pPr>
            <a:r>
              <a:rPr lang="en-IN" sz="1600">
                <a:solidFill>
                  <a:srgbClr val="212121"/>
                </a:solidFill>
                <a:latin typeface="Calibri" panose="020F0502020204030204" pitchFamily="34" charset="0"/>
              </a:rPr>
              <a:t>Provenance (manifest hash, augmentation, seed) stored in the checkpoint</a:t>
            </a:r>
          </a:p>
        </p:txBody>
      </p:sp>
      <p:sp>
        <p:nvSpPr>
          <p:cNvPr id="17" name="Rectangle: Rounded Corners 16">
            <a:extLst>
              <a:ext uri="{FF2B5EF4-FFF2-40B4-BE49-F238E27FC236}">
                <a16:creationId xmlns:a16="http://schemas.microsoft.com/office/drawing/2014/main" id="{30E550C1-8BAA-0002-7275-20C248DB7A84}"/>
              </a:ext>
            </a:extLst>
          </p:cNvPr>
          <p:cNvSpPr/>
          <p:nvPr/>
        </p:nvSpPr>
        <p:spPr>
          <a:xfrm>
            <a:off x="5080000" y="5080000"/>
            <a:ext cx="6604000" cy="1092200"/>
          </a:xfrm>
          <a:prstGeom prst="roundRect">
            <a:avLst>
              <a:gd name="adj" fmla="val 12000"/>
            </a:avLst>
          </a:prstGeom>
          <a:solidFill>
            <a:srgbClr val="FDEC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000" b="1">
                <a:solidFill>
                  <a:srgbClr val="B00020"/>
                </a:solidFill>
                <a:latin typeface="Calibri" panose="020F0502020204030204" pitchFamily="34" charset="0"/>
              </a:rPr>
              <a:t>AUC 0.87–0.98</a:t>
            </a:r>
          </a:p>
          <a:p>
            <a:pPr algn="ctr"/>
            <a:r>
              <a:rPr lang="en-US" sz="1400">
                <a:solidFill>
                  <a:srgbClr val="212121"/>
                </a:solidFill>
                <a:latin typeface="Calibri" panose="020F0502020204030204" pitchFamily="34" charset="0"/>
              </a:rPr>
              <a:t>across 8 degradations on fusion_val (previous model: 0.46-0.83 under re-encoding)</a:t>
            </a:r>
            <a:endParaRPr lang="en-IN" sz="1400">
              <a:solidFill>
                <a:srgbClr val="212121"/>
              </a:solidFill>
              <a:latin typeface="Calibri" panose="020F0502020204030204" pitchFamily="34" charset="0"/>
            </a:endParaRPr>
          </a:p>
        </p:txBody>
      </p:sp>
    </p:spTree>
    <p:extLst>
      <p:ext uri="{BB962C8B-B14F-4D97-AF65-F5344CB8AC3E}">
        <p14:creationId xmlns:p14="http://schemas.microsoft.com/office/powerpoint/2010/main" val="163981912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TEMPORAL DETECTOR: R3D-18</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871265C9-F6A1-07DF-7A53-EC4ACF670A10}"/>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1F5A9C83-A9D4-4D39-1F19-9531F5D36031}"/>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E01D8767-C447-47ED-CE61-AC3E9849C0C6}"/>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8</a:t>
            </a:r>
          </a:p>
        </p:txBody>
      </p:sp>
      <p:sp>
        <p:nvSpPr>
          <p:cNvPr id="7" name="Rectangle: Rounded Corners 6">
            <a:extLst>
              <a:ext uri="{FF2B5EF4-FFF2-40B4-BE49-F238E27FC236}">
                <a16:creationId xmlns:a16="http://schemas.microsoft.com/office/drawing/2014/main" id="{7A818590-B419-C06A-A59E-292EF2011E11}"/>
              </a:ext>
            </a:extLst>
          </p:cNvPr>
          <p:cNvSpPr/>
          <p:nvPr/>
        </p:nvSpPr>
        <p:spPr>
          <a:xfrm>
            <a:off x="508000" y="20320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1500">
                <a:solidFill>
                  <a:srgbClr val="212121"/>
                </a:solidFill>
                <a:latin typeface="Calibri" panose="020F0502020204030204" pitchFamily="34" charset="0"/>
              </a:rPr>
              <a:t>16 frames at ~8 fps (2 s, centre of video)</a:t>
            </a:r>
            <a:endParaRPr lang="en-IN" sz="1500">
              <a:solidFill>
                <a:srgbClr val="212121"/>
              </a:solidFill>
              <a:latin typeface="Calibri" panose="020F0502020204030204" pitchFamily="34" charset="0"/>
            </a:endParaRPr>
          </a:p>
        </p:txBody>
      </p:sp>
      <p:cxnSp>
        <p:nvCxnSpPr>
          <p:cNvPr id="8" name="Straight Arrow Connector 7">
            <a:extLst>
              <a:ext uri="{FF2B5EF4-FFF2-40B4-BE49-F238E27FC236}">
                <a16:creationId xmlns:a16="http://schemas.microsoft.com/office/drawing/2014/main" id="{1E3BFB1F-75A2-990A-E330-DDE44DF83DE9}"/>
              </a:ext>
            </a:extLst>
          </p:cNvPr>
          <p:cNvCxnSpPr/>
          <p:nvPr/>
        </p:nvCxnSpPr>
        <p:spPr>
          <a:xfrm>
            <a:off x="2603500" y="26670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A084CAAD-CAFF-E6EF-271C-AF6B2F50B647}"/>
              </a:ext>
            </a:extLst>
          </p:cNvPr>
          <p:cNvSpPr/>
          <p:nvPr/>
        </p:nvSpPr>
        <p:spPr>
          <a:xfrm>
            <a:off x="508000" y="28702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1500">
                <a:solidFill>
                  <a:srgbClr val="212121"/>
                </a:solidFill>
                <a:latin typeface="Calibri" panose="020F0502020204030204" pitchFamily="34" charset="0"/>
              </a:rPr>
              <a:t>Same face crop applied to every frame</a:t>
            </a:r>
            <a:endParaRPr lang="en-IN" sz="1500">
              <a:solidFill>
                <a:srgbClr val="212121"/>
              </a:solidFill>
              <a:latin typeface="Calibri" panose="020F0502020204030204" pitchFamily="34" charset="0"/>
            </a:endParaRPr>
          </a:p>
        </p:txBody>
      </p:sp>
      <p:cxnSp>
        <p:nvCxnSpPr>
          <p:cNvPr id="10" name="Straight Arrow Connector 9">
            <a:extLst>
              <a:ext uri="{FF2B5EF4-FFF2-40B4-BE49-F238E27FC236}">
                <a16:creationId xmlns:a16="http://schemas.microsoft.com/office/drawing/2014/main" id="{103DB14D-32B7-A344-1D02-42A0DF883372}"/>
              </a:ext>
            </a:extLst>
          </p:cNvPr>
          <p:cNvCxnSpPr/>
          <p:nvPr/>
        </p:nvCxnSpPr>
        <p:spPr>
          <a:xfrm>
            <a:off x="2603500" y="35052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E4AE7E71-EB55-DE61-5C04-480763129E9F}"/>
              </a:ext>
            </a:extLst>
          </p:cNvPr>
          <p:cNvSpPr/>
          <p:nvPr/>
        </p:nvSpPr>
        <p:spPr>
          <a:xfrm>
            <a:off x="508000" y="37084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Resize 112×112, Kinetics normalisation</a:t>
            </a:r>
          </a:p>
        </p:txBody>
      </p:sp>
      <p:cxnSp>
        <p:nvCxnSpPr>
          <p:cNvPr id="12" name="Straight Arrow Connector 11">
            <a:extLst>
              <a:ext uri="{FF2B5EF4-FFF2-40B4-BE49-F238E27FC236}">
                <a16:creationId xmlns:a16="http://schemas.microsoft.com/office/drawing/2014/main" id="{B1DE98A5-B53A-E73D-F55E-9CBAA3BA10E2}"/>
              </a:ext>
            </a:extLst>
          </p:cNvPr>
          <p:cNvCxnSpPr/>
          <p:nvPr/>
        </p:nvCxnSpPr>
        <p:spPr>
          <a:xfrm>
            <a:off x="2603500" y="43434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E69BE64C-93C4-FEED-AEB6-44395BE424D5}"/>
              </a:ext>
            </a:extLst>
          </p:cNvPr>
          <p:cNvSpPr/>
          <p:nvPr/>
        </p:nvSpPr>
        <p:spPr>
          <a:xfrm>
            <a:off x="508000" y="4546600"/>
            <a:ext cx="4191000" cy="6350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US" sz="1500">
                <a:solidFill>
                  <a:srgbClr val="212121"/>
                </a:solidFill>
                <a:latin typeface="Calibri" panose="020F0502020204030204" pitchFamily="34" charset="0"/>
              </a:rPr>
              <a:t>R3D-18 3D CNN [22] (Kinetics init [23])</a:t>
            </a:r>
            <a:endParaRPr lang="en-IN" sz="1500">
              <a:solidFill>
                <a:srgbClr val="212121"/>
              </a:solidFill>
              <a:latin typeface="Calibri" panose="020F0502020204030204" pitchFamily="34" charset="0"/>
            </a:endParaRPr>
          </a:p>
        </p:txBody>
      </p:sp>
      <p:cxnSp>
        <p:nvCxnSpPr>
          <p:cNvPr id="14" name="Straight Arrow Connector 13">
            <a:extLst>
              <a:ext uri="{FF2B5EF4-FFF2-40B4-BE49-F238E27FC236}">
                <a16:creationId xmlns:a16="http://schemas.microsoft.com/office/drawing/2014/main" id="{201DA488-AAF5-7EB4-4D11-1F615C8BDF59}"/>
              </a:ext>
            </a:extLst>
          </p:cNvPr>
          <p:cNvCxnSpPr/>
          <p:nvPr/>
        </p:nvCxnSpPr>
        <p:spPr>
          <a:xfrm>
            <a:off x="2603500" y="51816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7E1C6BD9-C795-4CA3-306C-06912F8D5D3E}"/>
              </a:ext>
            </a:extLst>
          </p:cNvPr>
          <p:cNvSpPr/>
          <p:nvPr/>
        </p:nvSpPr>
        <p:spPr>
          <a:xfrm>
            <a:off x="508000" y="5384800"/>
            <a:ext cx="4191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1500">
                <a:solidFill>
                  <a:srgbClr val="212121"/>
                </a:solidFill>
                <a:latin typeface="Calibri" panose="020F0502020204030204" pitchFamily="34" charset="0"/>
              </a:rPr>
              <a:t>P(fake), threshold 0.35 (from detector_val)</a:t>
            </a:r>
            <a:endParaRPr lang="en-IN" sz="1500">
              <a:solidFill>
                <a:srgbClr val="212121"/>
              </a:solidFill>
              <a:latin typeface="Calibri" panose="020F0502020204030204" pitchFamily="34" charset="0"/>
            </a:endParaRPr>
          </a:p>
        </p:txBody>
      </p:sp>
      <p:sp>
        <p:nvSpPr>
          <p:cNvPr id="16" name="TextBox 15">
            <a:extLst>
              <a:ext uri="{FF2B5EF4-FFF2-40B4-BE49-F238E27FC236}">
                <a16:creationId xmlns:a16="http://schemas.microsoft.com/office/drawing/2014/main" id="{DE6C3CFC-5D95-A030-2B74-39D956A362A6}"/>
              </a:ext>
            </a:extLst>
          </p:cNvPr>
          <p:cNvSpPr txBox="1"/>
          <p:nvPr/>
        </p:nvSpPr>
        <p:spPr>
          <a:xfrm>
            <a:off x="5080000" y="2032000"/>
            <a:ext cx="6604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600">
                <a:solidFill>
                  <a:srgbClr val="212121"/>
                </a:solidFill>
                <a:latin typeface="Calibri" panose="020F0502020204030204" pitchFamily="34" charset="0"/>
              </a:rPr>
              <a:t>Checkpoint: temporal_agent_lc.pth (epoch 3 of 4)</a:t>
            </a:r>
          </a:p>
          <a:p>
            <a:pPr marL="203200" indent="-203200">
              <a:spcAft>
                <a:spcPts val="600"/>
              </a:spcAft>
              <a:buFont typeface="+mj-lt"/>
              <a:buChar char="•"/>
            </a:pPr>
            <a:r>
              <a:rPr lang="en-US" sz="1600">
                <a:solidFill>
                  <a:srgbClr val="212121"/>
                </a:solidFill>
                <a:latin typeface="Calibri" panose="020F0502020204030204" pitchFamily="34" charset="0"/>
              </a:rPr>
              <a:t>Input tensor 3 x 16 x 112 x 112; AdamW 2e-4, batch 8</a:t>
            </a:r>
          </a:p>
          <a:p>
            <a:pPr marL="203200" indent="-203200">
              <a:spcAft>
                <a:spcPts val="600"/>
              </a:spcAft>
              <a:buFont typeface="+mj-lt"/>
              <a:buChar char="•"/>
            </a:pPr>
            <a:r>
              <a:rPr lang="en-US" sz="1600">
                <a:solidFill>
                  <a:srgbClr val="212121"/>
                </a:solidFill>
                <a:latin typeface="Calibri" panose="020F0502020204030204" pitchFamily="34" charset="0"/>
              </a:rPr>
              <a:t>Videos shorter than 16 frames are reported as unanalysable, not padded</a:t>
            </a:r>
          </a:p>
          <a:p>
            <a:pPr marL="203200" indent="-203200">
              <a:spcAft>
                <a:spcPts val="600"/>
              </a:spcAft>
              <a:buFont typeface="+mj-lt"/>
              <a:buChar char="•"/>
            </a:pPr>
            <a:r>
              <a:rPr lang="en-US" sz="1600">
                <a:solidFill>
                  <a:srgbClr val="212121"/>
                </a:solidFill>
                <a:latin typeface="Calibri" panose="020F0502020204030204" pitchFamily="34" charset="0"/>
              </a:rPr>
              <a:t>Not trained with degradation augmentation</a:t>
            </a:r>
            <a:endParaRPr lang="en-IN" sz="1600">
              <a:solidFill>
                <a:srgbClr val="212121"/>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5BEF2DCD-AE9F-0C7F-9C07-184CF961EF31}"/>
              </a:ext>
            </a:extLst>
          </p:cNvPr>
          <p:cNvSpPr/>
          <p:nvPr/>
        </p:nvSpPr>
        <p:spPr>
          <a:xfrm>
            <a:off x="5080000" y="4470400"/>
            <a:ext cx="3175000" cy="1676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200" b="1">
                <a:solidFill>
                  <a:srgbClr val="1F3A5F"/>
                </a:solidFill>
                <a:latin typeface="Calibri" panose="020F0502020204030204" pitchFamily="34" charset="0"/>
              </a:rPr>
              <a:t>0.998</a:t>
            </a:r>
          </a:p>
          <a:p>
            <a:pPr algn="ctr"/>
            <a:r>
              <a:rPr lang="en-US" sz="1400">
                <a:solidFill>
                  <a:srgbClr val="212121"/>
                </a:solidFill>
                <a:latin typeface="Calibri" panose="020F0502020204030204" pitchFamily="34" charset="0"/>
              </a:rPr>
              <a:t>AUC on clean fusion_val clips</a:t>
            </a:r>
            <a:endParaRPr lang="en-IN" sz="1400">
              <a:solidFill>
                <a:srgbClr val="212121"/>
              </a:solidFill>
              <a:latin typeface="Calibri" panose="020F0502020204030204" pitchFamily="34" charset="0"/>
            </a:endParaRPr>
          </a:p>
        </p:txBody>
      </p:sp>
      <p:sp>
        <p:nvSpPr>
          <p:cNvPr id="18" name="Rectangle: Rounded Corners 17">
            <a:extLst>
              <a:ext uri="{FF2B5EF4-FFF2-40B4-BE49-F238E27FC236}">
                <a16:creationId xmlns:a16="http://schemas.microsoft.com/office/drawing/2014/main" id="{DBBD268C-1CC5-4244-84F0-874A9661A388}"/>
              </a:ext>
            </a:extLst>
          </p:cNvPr>
          <p:cNvSpPr/>
          <p:nvPr/>
        </p:nvSpPr>
        <p:spPr>
          <a:xfrm>
            <a:off x="8509000" y="4470400"/>
            <a:ext cx="3175000" cy="1676400"/>
          </a:xfrm>
          <a:prstGeom prst="roundRect">
            <a:avLst>
              <a:gd name="adj" fmla="val 12000"/>
            </a:avLst>
          </a:prstGeom>
          <a:solidFill>
            <a:srgbClr val="FDEC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200" b="1">
                <a:solidFill>
                  <a:srgbClr val="B00020"/>
                </a:solidFill>
                <a:latin typeface="Calibri" panose="020F0502020204030204" pitchFamily="34" charset="0"/>
              </a:rPr>
              <a:t>85 / 115</a:t>
            </a:r>
          </a:p>
          <a:p>
            <a:pPr algn="ctr"/>
            <a:r>
              <a:rPr lang="en-US" sz="1400">
                <a:solidFill>
                  <a:srgbClr val="212121"/>
                </a:solidFill>
                <a:latin typeface="Calibri" panose="020F0502020204030204" pitchFamily="34" charset="0"/>
              </a:rPr>
              <a:t>fakes missed after H.264 CRF 32 re-encoding</a:t>
            </a:r>
            <a:endParaRPr lang="en-IN" sz="1400">
              <a:solidFill>
                <a:srgbClr val="212121"/>
              </a:solidFill>
              <a:latin typeface="Calibri" panose="020F0502020204030204" pitchFamily="34" charset="0"/>
            </a:endParaRPr>
          </a:p>
        </p:txBody>
      </p:sp>
    </p:spTree>
    <p:extLst>
      <p:ext uri="{BB962C8B-B14F-4D97-AF65-F5344CB8AC3E}">
        <p14:creationId xmlns:p14="http://schemas.microsoft.com/office/powerpoint/2010/main" val="374676849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US" sz="3600">
                <a:solidFill>
                  <a:srgbClr val="212121"/>
                </a:solidFill>
                <a:latin typeface="Calibri Light" panose="020F0302020204030204" pitchFamily="34" charset="0"/>
              </a:rPr>
              <a:t>AUDIO DETECTOR AND CONTEXT COMPONENT</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6D4C4DC7-A8E9-9C47-6232-3EEEAAF1E4C8}"/>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0D47094A-7CE0-4230-B01C-89887AA25AAF}"/>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6543C211-A14B-F79F-364A-856E1C6270DC}"/>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9</a:t>
            </a:r>
          </a:p>
        </p:txBody>
      </p:sp>
      <p:sp>
        <p:nvSpPr>
          <p:cNvPr id="7" name="Rectangle: Rounded Corners 6">
            <a:extLst>
              <a:ext uri="{FF2B5EF4-FFF2-40B4-BE49-F238E27FC236}">
                <a16:creationId xmlns:a16="http://schemas.microsoft.com/office/drawing/2014/main" id="{B00DB779-BF5F-D27E-C4B7-EB8F24F16F94}"/>
              </a:ext>
            </a:extLst>
          </p:cNvPr>
          <p:cNvSpPr/>
          <p:nvPr/>
        </p:nvSpPr>
        <p:spPr>
          <a:xfrm>
            <a:off x="508000" y="2032000"/>
            <a:ext cx="5334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ffmpeg → 16 kHz mono WAV</a:t>
            </a:r>
          </a:p>
        </p:txBody>
      </p:sp>
      <p:cxnSp>
        <p:nvCxnSpPr>
          <p:cNvPr id="8" name="Straight Arrow Connector 7">
            <a:extLst>
              <a:ext uri="{FF2B5EF4-FFF2-40B4-BE49-F238E27FC236}">
                <a16:creationId xmlns:a16="http://schemas.microsoft.com/office/drawing/2014/main" id="{59BE41C6-5D42-84A3-A31F-96B5F4791D70}"/>
              </a:ext>
            </a:extLst>
          </p:cNvPr>
          <p:cNvCxnSpPr/>
          <p:nvPr/>
        </p:nvCxnSpPr>
        <p:spPr>
          <a:xfrm>
            <a:off x="3175000" y="26670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8C837B97-17C9-9374-643E-F6D8629E672D}"/>
              </a:ext>
            </a:extLst>
          </p:cNvPr>
          <p:cNvSpPr/>
          <p:nvPr/>
        </p:nvSpPr>
        <p:spPr>
          <a:xfrm>
            <a:off x="508000" y="2870200"/>
            <a:ext cx="5334000" cy="635000"/>
          </a:xfrm>
          <a:prstGeom prst="roundRect">
            <a:avLst>
              <a:gd name="adj" fmla="val 12000"/>
            </a:avLst>
          </a:prstGeom>
          <a:solidFill>
            <a:srgbClr val="FFF7E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1500">
                <a:solidFill>
                  <a:srgbClr val="212121"/>
                </a:solidFill>
                <a:latin typeface="Calibri" panose="020F0502020204030204" pitchFamily="34" charset="0"/>
              </a:rPr>
              <a:t>No-speech guard: silence &lt; −60 dBFS or pure tone → unavailable</a:t>
            </a:r>
            <a:endParaRPr lang="en-IN" sz="1500">
              <a:solidFill>
                <a:srgbClr val="212121"/>
              </a:solidFill>
              <a:latin typeface="Calibri" panose="020F0502020204030204" pitchFamily="34" charset="0"/>
            </a:endParaRPr>
          </a:p>
        </p:txBody>
      </p:sp>
      <p:cxnSp>
        <p:nvCxnSpPr>
          <p:cNvPr id="10" name="Straight Arrow Connector 9">
            <a:extLst>
              <a:ext uri="{FF2B5EF4-FFF2-40B4-BE49-F238E27FC236}">
                <a16:creationId xmlns:a16="http://schemas.microsoft.com/office/drawing/2014/main" id="{8A9DE819-5424-CF2C-C523-E565EA8A4DC6}"/>
              </a:ext>
            </a:extLst>
          </p:cNvPr>
          <p:cNvCxnSpPr/>
          <p:nvPr/>
        </p:nvCxnSpPr>
        <p:spPr>
          <a:xfrm>
            <a:off x="3175000" y="35052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2A7824CB-EF48-9FBE-A4B8-B020ABCA4ACC}"/>
              </a:ext>
            </a:extLst>
          </p:cNvPr>
          <p:cNvSpPr/>
          <p:nvPr/>
        </p:nvSpPr>
        <p:spPr>
          <a:xfrm>
            <a:off x="508000" y="3708400"/>
            <a:ext cx="5334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Centre 3 s → 128-band log-mel spectrogram</a:t>
            </a:r>
          </a:p>
        </p:txBody>
      </p:sp>
      <p:cxnSp>
        <p:nvCxnSpPr>
          <p:cNvPr id="12" name="Straight Arrow Connector 11">
            <a:extLst>
              <a:ext uri="{FF2B5EF4-FFF2-40B4-BE49-F238E27FC236}">
                <a16:creationId xmlns:a16="http://schemas.microsoft.com/office/drawing/2014/main" id="{6081E445-295D-797E-F90D-0A861D9B16C3}"/>
              </a:ext>
            </a:extLst>
          </p:cNvPr>
          <p:cNvCxnSpPr/>
          <p:nvPr/>
        </p:nvCxnSpPr>
        <p:spPr>
          <a:xfrm>
            <a:off x="3175000" y="43434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8592C28A-CD7E-DBAC-79CD-9DE4A8A1D6B8}"/>
              </a:ext>
            </a:extLst>
          </p:cNvPr>
          <p:cNvSpPr/>
          <p:nvPr/>
        </p:nvSpPr>
        <p:spPr>
          <a:xfrm>
            <a:off x="508000" y="4546600"/>
            <a:ext cx="5334000" cy="635000"/>
          </a:xfrm>
          <a:prstGeom prst="roundRect">
            <a:avLst>
              <a:gd name="adj" fmla="val 12000"/>
            </a:avLst>
          </a:prstGeom>
          <a:solidFill>
            <a:srgbClr val="FDECEE"/>
          </a:solidFill>
          <a:ln w="15875">
            <a:solidFill>
              <a:srgbClr val="B00020"/>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US" sz="1500">
                <a:solidFill>
                  <a:srgbClr val="212121"/>
                </a:solidFill>
                <a:latin typeface="Calibri" panose="020F0502020204030204" pitchFamily="34" charset="0"/>
              </a:rPr>
              <a:t>EfficientNet-B0 on the spectrogram [24]</a:t>
            </a:r>
            <a:endParaRPr lang="en-IN" sz="1500">
              <a:solidFill>
                <a:srgbClr val="212121"/>
              </a:solidFill>
              <a:latin typeface="Calibri" panose="020F0502020204030204" pitchFamily="34" charset="0"/>
            </a:endParaRPr>
          </a:p>
        </p:txBody>
      </p:sp>
      <p:cxnSp>
        <p:nvCxnSpPr>
          <p:cNvPr id="14" name="Straight Arrow Connector 13">
            <a:extLst>
              <a:ext uri="{FF2B5EF4-FFF2-40B4-BE49-F238E27FC236}">
                <a16:creationId xmlns:a16="http://schemas.microsoft.com/office/drawing/2014/main" id="{C3F460DA-6438-2E29-7940-39964D7317BC}"/>
              </a:ext>
            </a:extLst>
          </p:cNvPr>
          <p:cNvCxnSpPr/>
          <p:nvPr/>
        </p:nvCxnSpPr>
        <p:spPr>
          <a:xfrm>
            <a:off x="3175000" y="5181600"/>
            <a:ext cx="0" cy="203200"/>
          </a:xfrm>
          <a:prstGeom prst="straightConnector1">
            <a:avLst/>
          </a:prstGeom>
          <a:ln w="19050">
            <a:solidFill>
              <a:srgbClr val="464646"/>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7B7C347A-7444-8083-2E86-44156DE8A11A}"/>
              </a:ext>
            </a:extLst>
          </p:cNvPr>
          <p:cNvSpPr/>
          <p:nvPr/>
        </p:nvSpPr>
        <p:spPr>
          <a:xfrm>
            <a:off x="508000" y="5384800"/>
            <a:ext cx="5334000" cy="6350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IN" sz="1500">
                <a:solidFill>
                  <a:srgbClr val="212121"/>
                </a:solidFill>
                <a:latin typeface="Calibri" panose="020F0502020204030204" pitchFamily="34" charset="0"/>
              </a:rPr>
              <a:t>P(fake), threshold 0.50</a:t>
            </a:r>
          </a:p>
        </p:txBody>
      </p:sp>
      <p:sp>
        <p:nvSpPr>
          <p:cNvPr id="16" name="TextBox 15">
            <a:extLst>
              <a:ext uri="{FF2B5EF4-FFF2-40B4-BE49-F238E27FC236}">
                <a16:creationId xmlns:a16="http://schemas.microsoft.com/office/drawing/2014/main" id="{EE433F1D-6F4D-017A-60E5-83F0C1AFC4EB}"/>
              </a:ext>
            </a:extLst>
          </p:cNvPr>
          <p:cNvSpPr txBox="1"/>
          <p:nvPr/>
        </p:nvSpPr>
        <p:spPr>
          <a:xfrm>
            <a:off x="6223000" y="2032000"/>
            <a:ext cx="5461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500">
                <a:solidFill>
                  <a:srgbClr val="212121"/>
                </a:solidFill>
                <a:latin typeface="Calibri" panose="020F0502020204030204" pitchFamily="34" charset="0"/>
              </a:rPr>
              <a:t>Checkpoint: audio_agent_lc_v2_aug_s1.pth</a:t>
            </a:r>
          </a:p>
          <a:p>
            <a:pPr marL="203200" indent="-203200">
              <a:spcAft>
                <a:spcPts val="600"/>
              </a:spcAft>
              <a:buFont typeface="+mj-lt"/>
              <a:buChar char="•"/>
            </a:pPr>
            <a:r>
              <a:rPr lang="en-US" sz="1500">
                <a:solidFill>
                  <a:srgbClr val="212121"/>
                </a:solidFill>
                <a:latin typeface="Calibri" panose="020F0502020204030204" pitchFamily="34" charset="0"/>
              </a:rPr>
              <a:t>Trained on corrected audio (313 files had been given another file's audio)</a:t>
            </a:r>
          </a:p>
          <a:p>
            <a:pPr marL="203200" indent="-203200">
              <a:spcAft>
                <a:spcPts val="600"/>
              </a:spcAft>
              <a:buFont typeface="+mj-lt"/>
              <a:buChar char="•"/>
            </a:pPr>
            <a:r>
              <a:rPr lang="en-US" sz="1500">
                <a:solidFill>
                  <a:srgbClr val="212121"/>
                </a:solidFill>
                <a:latin typeface="Calibri" panose="020F0502020204030204" pitchFamily="34" charset="0"/>
              </a:rPr>
              <a:t>Augmentation: MP3 / AAC 64k, 44.1 kHz stereo, gain, noise</a:t>
            </a:r>
          </a:p>
          <a:p>
            <a:pPr marL="203200" indent="-203200">
              <a:spcAft>
                <a:spcPts val="600"/>
              </a:spcAft>
              <a:buFont typeface="+mj-lt"/>
              <a:buChar char="•"/>
            </a:pPr>
            <a:r>
              <a:rPr lang="en-US" sz="1500">
                <a:solidFill>
                  <a:srgbClr val="212121"/>
                </a:solidFill>
                <a:latin typeface="Calibri" panose="020F0502020204030204" pitchFamily="34" charset="0"/>
              </a:rPr>
              <a:t>fusion_val: 0 of 86 fake clips missed in every format; at most 1 of 129 false alarms</a:t>
            </a:r>
            <a:endParaRPr lang="en-IN" sz="1500">
              <a:solidFill>
                <a:srgbClr val="212121"/>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5363E61F-AC04-4D0E-2D0C-008DD49A5A66}"/>
              </a:ext>
            </a:extLst>
          </p:cNvPr>
          <p:cNvSpPr/>
          <p:nvPr/>
        </p:nvSpPr>
        <p:spPr>
          <a:xfrm>
            <a:off x="6223000" y="4724400"/>
            <a:ext cx="5461000" cy="1447800"/>
          </a:xfrm>
          <a:prstGeom prst="roundRect">
            <a:avLst>
              <a:gd name="adj" fmla="val 12000"/>
            </a:avLst>
          </a:prstGeom>
          <a:solidFill>
            <a:srgbClr val="F4F5F7"/>
          </a:solidFill>
          <a:ln w="15875">
            <a:solidFill>
              <a:srgbClr val="6E6E6E"/>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r>
              <a:rPr lang="en-US" sz="1500" b="1">
                <a:solidFill>
                  <a:srgbClr val="212121"/>
                </a:solidFill>
                <a:latin typeface="Calibri" panose="020F0502020204030204" pitchFamily="34" charset="0"/>
              </a:rPr>
              <a:t>Context component (explanation only)</a:t>
            </a:r>
          </a:p>
          <a:p>
            <a:r>
              <a:rPr lang="en-US" sz="1300">
                <a:solidFill>
                  <a:srgbClr val="212121"/>
                </a:solidFill>
                <a:latin typeface="Calibri" panose="020F0502020204030204" pitchFamily="34" charset="0"/>
              </a:rPr>
              <a:t>Compares the visual and audio scores and states the gap, e.g. 'visual 100% and audio 100% point the same way'. Never votes; not a lip-sync detector.</a:t>
            </a:r>
            <a:endParaRPr lang="en-IN" sz="1300">
              <a:solidFill>
                <a:srgbClr val="212121"/>
              </a:solidFill>
              <a:latin typeface="Calibri" panose="020F0502020204030204" pitchFamily="34" charset="0"/>
            </a:endParaRPr>
          </a:p>
        </p:txBody>
      </p:sp>
    </p:spTree>
    <p:extLst>
      <p:ext uri="{BB962C8B-B14F-4D97-AF65-F5344CB8AC3E}">
        <p14:creationId xmlns:p14="http://schemas.microsoft.com/office/powerpoint/2010/main" val="1640604398"/>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US" sz="3600">
                <a:solidFill>
                  <a:srgbClr val="212121"/>
                </a:solidFill>
                <a:latin typeface="Calibri Light" panose="020F0302020204030204" pitchFamily="34" charset="0"/>
              </a:rPr>
              <a:t>DATA, FUSION AND VERDICT FLOW</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C8413A9B-1395-02A7-C257-8165A061F713}"/>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5A5BD503-EFA9-DDD8-52FE-DBF4ACA38B00}"/>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FF9F290C-9486-6A15-F13B-703CA7A74D0B}"/>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10</a:t>
            </a:r>
          </a:p>
        </p:txBody>
      </p:sp>
      <p:pic>
        <p:nvPicPr>
          <p:cNvPr id="8" name="Picture 7">
            <a:extLst>
              <a:ext uri="{FF2B5EF4-FFF2-40B4-BE49-F238E27FC236}">
                <a16:creationId xmlns:a16="http://schemas.microsoft.com/office/drawing/2014/main" id="{08CE6A19-4F9E-B8D6-86AC-4682BC4DC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1291" y="2032001"/>
            <a:ext cx="7609418" cy="1270000"/>
          </a:xfrm>
          <a:prstGeom prst="rect">
            <a:avLst/>
          </a:prstGeom>
        </p:spPr>
      </p:pic>
      <p:sp>
        <p:nvSpPr>
          <p:cNvPr id="9" name="TextBox 8">
            <a:extLst>
              <a:ext uri="{FF2B5EF4-FFF2-40B4-BE49-F238E27FC236}">
                <a16:creationId xmlns:a16="http://schemas.microsoft.com/office/drawing/2014/main" id="{0A64F733-FEE1-E4D6-B5D8-4DD8BC2E139F}"/>
              </a:ext>
            </a:extLst>
          </p:cNvPr>
          <p:cNvSpPr txBox="1"/>
          <p:nvPr/>
        </p:nvSpPr>
        <p:spPr>
          <a:xfrm>
            <a:off x="508000" y="3327401"/>
            <a:ext cx="11176000" cy="369332"/>
          </a:xfrm>
          <a:prstGeom prst="rect">
            <a:avLst/>
          </a:prstGeom>
          <a:noFill/>
        </p:spPr>
        <p:txBody>
          <a:bodyPr vert="horz" wrap="square" lIns="50800" tIns="25400" rIns="50800" bIns="25400" rtlCol="0">
            <a:noAutofit/>
          </a:bodyPr>
          <a:lstStyle/>
          <a:p>
            <a:pPr algn="ctr"/>
            <a:r>
              <a:rPr lang="en-US" sz="1100">
                <a:solidFill>
                  <a:srgbClr val="6E6E6E"/>
                </a:solidFill>
                <a:latin typeface="Calibri" panose="020F0502020204030204" pitchFamily="34" charset="0"/>
              </a:rPr>
              <a:t>Identity-disjoint split of FakeAVCeleb [8] (manifest v3)</a:t>
            </a:r>
            <a:endParaRPr lang="en-IN" sz="1100">
              <a:solidFill>
                <a:srgbClr val="6E6E6E"/>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074BB32F-87EA-6FE1-E524-DDA4BC4802EB}"/>
              </a:ext>
            </a:extLst>
          </p:cNvPr>
          <p:cNvSpPr/>
          <p:nvPr/>
        </p:nvSpPr>
        <p:spPr>
          <a:xfrm>
            <a:off x="508000" y="3810000"/>
            <a:ext cx="5461000" cy="1244600"/>
          </a:xfrm>
          <a:prstGeom prst="roundRect">
            <a:avLst>
              <a:gd name="adj" fmla="val 12000"/>
            </a:avLst>
          </a:prstGeom>
          <a:solidFill>
            <a:srgbClr val="FFFFFF"/>
          </a:solidFill>
          <a:ln w="15875">
            <a:solidFill>
              <a:srgbClr val="1F3A5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lstStyle/>
          <a:p>
            <a:pPr algn="ctr"/>
            <a:r>
              <a:rPr lang="en-IN" sz="1400" b="1">
                <a:solidFill>
                  <a:srgbClr val="212121"/>
                </a:solidFill>
                <a:latin typeface="Calibri" panose="020F0502020204030204" pitchFamily="34" charset="0"/>
              </a:rPr>
              <a:t>corrected_fixed fusion (no trained parameters)</a:t>
            </a:r>
          </a:p>
          <a:p>
            <a:pPr algn="ctr"/>
            <a:r>
              <a:rPr lang="en-IN" sz="1400">
                <a:solidFill>
                  <a:srgbClr val="212121"/>
                </a:solidFill>
                <a:latin typeface="Calibri" panose="020F0502020204030204" pitchFamily="34" charset="0"/>
              </a:rPr>
              <a:t>P_visual = (0.40 sp + 0.30 te) / 0.70</a:t>
            </a:r>
          </a:p>
          <a:p>
            <a:pPr algn="ctr"/>
            <a:r>
              <a:rPr lang="en-IN" sz="1400">
                <a:solidFill>
                  <a:srgbClr val="212121"/>
                </a:solidFill>
                <a:latin typeface="Calibri" panose="020F0502020204030204" pitchFamily="34" charset="0"/>
              </a:rPr>
              <a:t>P_fake = 1 − (1 − P_visual)(1 − P_audio)</a:t>
            </a:r>
          </a:p>
          <a:p>
            <a:pPr algn="ctr"/>
            <a:r>
              <a:rPr lang="en-IN" sz="1400">
                <a:solidFill>
                  <a:srgbClr val="212121"/>
                </a:solidFill>
                <a:latin typeface="Calibri" panose="020F0502020204030204" pitchFamily="34" charset="0"/>
              </a:rPr>
              <a:t>type probabilities from P_visual and P_audio</a:t>
            </a:r>
          </a:p>
        </p:txBody>
      </p:sp>
      <p:sp>
        <p:nvSpPr>
          <p:cNvPr id="11" name="Rectangle 10">
            <a:extLst>
              <a:ext uri="{FF2B5EF4-FFF2-40B4-BE49-F238E27FC236}">
                <a16:creationId xmlns:a16="http://schemas.microsoft.com/office/drawing/2014/main" id="{A3DDD4CD-B42B-3472-71FA-2777AF23A80E}"/>
              </a:ext>
            </a:extLst>
          </p:cNvPr>
          <p:cNvSpPr/>
          <p:nvPr/>
        </p:nvSpPr>
        <p:spPr>
          <a:xfrm>
            <a:off x="6350000" y="4038600"/>
            <a:ext cx="2400300" cy="203200"/>
          </a:xfrm>
          <a:prstGeom prst="rect">
            <a:avLst/>
          </a:prstGeom>
          <a:solidFill>
            <a:srgbClr val="2EA0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7575E3D4-5ED0-F497-9AE8-8B2BC9DEB165}"/>
              </a:ext>
            </a:extLst>
          </p:cNvPr>
          <p:cNvSpPr/>
          <p:nvPr/>
        </p:nvSpPr>
        <p:spPr>
          <a:xfrm>
            <a:off x="8750300" y="4038600"/>
            <a:ext cx="533400" cy="203200"/>
          </a:xfrm>
          <a:prstGeom prst="rect">
            <a:avLst/>
          </a:prstGeom>
          <a:solidFill>
            <a:srgbClr val="E6A01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12E2DD34-9D51-A48B-00CD-D94DF0F48A24}"/>
              </a:ext>
            </a:extLst>
          </p:cNvPr>
          <p:cNvSpPr/>
          <p:nvPr/>
        </p:nvSpPr>
        <p:spPr>
          <a:xfrm>
            <a:off x="9283700" y="4038600"/>
            <a:ext cx="2400300" cy="203200"/>
          </a:xfrm>
          <a:prstGeom prst="rect">
            <a:avLst/>
          </a:prstGeom>
          <a:solidFill>
            <a:srgbClr val="D228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4AA7499-E437-3E60-968B-F917BC00ECE4}"/>
              </a:ext>
            </a:extLst>
          </p:cNvPr>
          <p:cNvSpPr txBox="1"/>
          <p:nvPr/>
        </p:nvSpPr>
        <p:spPr>
          <a:xfrm>
            <a:off x="6273800" y="4267200"/>
            <a:ext cx="381000" cy="369332"/>
          </a:xfrm>
          <a:prstGeom prst="rect">
            <a:avLst/>
          </a:prstGeom>
          <a:noFill/>
        </p:spPr>
        <p:txBody>
          <a:bodyPr vert="horz" wrap="square" lIns="50800" tIns="25400" rIns="50800" bIns="25400" rtlCol="0">
            <a:noAutofit/>
          </a:bodyPr>
          <a:lstStyle/>
          <a:p>
            <a:r>
              <a:rPr lang="en-IN" sz="1100">
                <a:solidFill>
                  <a:srgbClr val="6E6E6E"/>
                </a:solidFill>
                <a:latin typeface="Calibri" panose="020F0502020204030204" pitchFamily="34" charset="0"/>
              </a:rPr>
              <a:t>0</a:t>
            </a:r>
          </a:p>
        </p:txBody>
      </p:sp>
      <p:sp>
        <p:nvSpPr>
          <p:cNvPr id="15" name="TextBox 14">
            <a:extLst>
              <a:ext uri="{FF2B5EF4-FFF2-40B4-BE49-F238E27FC236}">
                <a16:creationId xmlns:a16="http://schemas.microsoft.com/office/drawing/2014/main" id="{EE080834-B0C7-47A2-E5E5-4DFA8E9D950E}"/>
              </a:ext>
            </a:extLst>
          </p:cNvPr>
          <p:cNvSpPr txBox="1"/>
          <p:nvPr/>
        </p:nvSpPr>
        <p:spPr>
          <a:xfrm>
            <a:off x="8369300" y="4267200"/>
            <a:ext cx="431800" cy="369332"/>
          </a:xfrm>
          <a:prstGeom prst="rect">
            <a:avLst/>
          </a:prstGeom>
          <a:noFill/>
        </p:spPr>
        <p:txBody>
          <a:bodyPr vert="horz" wrap="square" lIns="50800" tIns="25400" rIns="50800" bIns="25400" rtlCol="0">
            <a:noAutofit/>
          </a:bodyPr>
          <a:lstStyle/>
          <a:p>
            <a:pPr algn="r"/>
            <a:r>
              <a:rPr lang="en-IN" sz="1100">
                <a:solidFill>
                  <a:srgbClr val="6E6E6E"/>
                </a:solidFill>
                <a:latin typeface="Calibri" panose="020F0502020204030204" pitchFamily="34" charset="0"/>
              </a:rPr>
              <a:t>0.45</a:t>
            </a:r>
          </a:p>
        </p:txBody>
      </p:sp>
      <p:sp>
        <p:nvSpPr>
          <p:cNvPr id="16" name="TextBox 15">
            <a:extLst>
              <a:ext uri="{FF2B5EF4-FFF2-40B4-BE49-F238E27FC236}">
                <a16:creationId xmlns:a16="http://schemas.microsoft.com/office/drawing/2014/main" id="{1A2927E6-E82F-2EB6-7363-4DF60D27CD62}"/>
              </a:ext>
            </a:extLst>
          </p:cNvPr>
          <p:cNvSpPr txBox="1"/>
          <p:nvPr/>
        </p:nvSpPr>
        <p:spPr>
          <a:xfrm>
            <a:off x="9258300" y="4267200"/>
            <a:ext cx="508000" cy="369332"/>
          </a:xfrm>
          <a:prstGeom prst="rect">
            <a:avLst/>
          </a:prstGeom>
          <a:noFill/>
        </p:spPr>
        <p:txBody>
          <a:bodyPr vert="horz" wrap="square" lIns="50800" tIns="25400" rIns="50800" bIns="25400" rtlCol="0">
            <a:noAutofit/>
          </a:bodyPr>
          <a:lstStyle/>
          <a:p>
            <a:r>
              <a:rPr lang="en-IN" sz="1100">
                <a:solidFill>
                  <a:srgbClr val="6E6E6E"/>
                </a:solidFill>
                <a:latin typeface="Calibri" panose="020F0502020204030204" pitchFamily="34" charset="0"/>
              </a:rPr>
              <a:t>0.55</a:t>
            </a:r>
          </a:p>
        </p:txBody>
      </p:sp>
      <p:sp>
        <p:nvSpPr>
          <p:cNvPr id="17" name="TextBox 16">
            <a:extLst>
              <a:ext uri="{FF2B5EF4-FFF2-40B4-BE49-F238E27FC236}">
                <a16:creationId xmlns:a16="http://schemas.microsoft.com/office/drawing/2014/main" id="{B2046A67-4FFD-CC94-4A2C-9502F2C0EFA5}"/>
              </a:ext>
            </a:extLst>
          </p:cNvPr>
          <p:cNvSpPr txBox="1"/>
          <p:nvPr/>
        </p:nvSpPr>
        <p:spPr>
          <a:xfrm>
            <a:off x="11430000" y="4267200"/>
            <a:ext cx="304800" cy="369332"/>
          </a:xfrm>
          <a:prstGeom prst="rect">
            <a:avLst/>
          </a:prstGeom>
          <a:noFill/>
        </p:spPr>
        <p:txBody>
          <a:bodyPr vert="horz" wrap="square" lIns="50800" tIns="25400" rIns="50800" bIns="25400" rtlCol="0">
            <a:noAutofit/>
          </a:bodyPr>
          <a:lstStyle/>
          <a:p>
            <a:pPr algn="r"/>
            <a:r>
              <a:rPr lang="en-IN" sz="1100">
                <a:solidFill>
                  <a:srgbClr val="6E6E6E"/>
                </a:solidFill>
                <a:latin typeface="Calibri" panose="020F0502020204030204" pitchFamily="34" charset="0"/>
              </a:rPr>
              <a:t>1</a:t>
            </a:r>
          </a:p>
        </p:txBody>
      </p:sp>
      <p:sp>
        <p:nvSpPr>
          <p:cNvPr id="18" name="TextBox 17">
            <a:extLst>
              <a:ext uri="{FF2B5EF4-FFF2-40B4-BE49-F238E27FC236}">
                <a16:creationId xmlns:a16="http://schemas.microsoft.com/office/drawing/2014/main" id="{551B7E92-869F-3685-C2C7-0ACAA8BA9FE0}"/>
              </a:ext>
            </a:extLst>
          </p:cNvPr>
          <p:cNvSpPr txBox="1"/>
          <p:nvPr/>
        </p:nvSpPr>
        <p:spPr>
          <a:xfrm>
            <a:off x="6350000" y="4495800"/>
            <a:ext cx="2286000" cy="369332"/>
          </a:xfrm>
          <a:prstGeom prst="rect">
            <a:avLst/>
          </a:prstGeom>
          <a:noFill/>
        </p:spPr>
        <p:txBody>
          <a:bodyPr vert="horz" wrap="square" lIns="50800" tIns="25400" rIns="50800" bIns="25400" rtlCol="0">
            <a:noAutofit/>
          </a:bodyPr>
          <a:lstStyle/>
          <a:p>
            <a:r>
              <a:rPr lang="en-IN" sz="1300" b="1">
                <a:solidFill>
                  <a:srgbClr val="2EA05A"/>
                </a:solidFill>
                <a:latin typeface="Calibri" panose="020F0502020204030204" pitchFamily="34" charset="0"/>
              </a:rPr>
              <a:t>AUTHENTIC</a:t>
            </a:r>
          </a:p>
        </p:txBody>
      </p:sp>
      <p:sp>
        <p:nvSpPr>
          <p:cNvPr id="19" name="TextBox 18">
            <a:extLst>
              <a:ext uri="{FF2B5EF4-FFF2-40B4-BE49-F238E27FC236}">
                <a16:creationId xmlns:a16="http://schemas.microsoft.com/office/drawing/2014/main" id="{ABB8BE1C-41E1-0A65-CA43-DE4AC3FA1205}"/>
              </a:ext>
            </a:extLst>
          </p:cNvPr>
          <p:cNvSpPr txBox="1"/>
          <p:nvPr/>
        </p:nvSpPr>
        <p:spPr>
          <a:xfrm>
            <a:off x="8255000" y="4724400"/>
            <a:ext cx="1778000" cy="369332"/>
          </a:xfrm>
          <a:prstGeom prst="rect">
            <a:avLst/>
          </a:prstGeom>
          <a:noFill/>
        </p:spPr>
        <p:txBody>
          <a:bodyPr vert="horz" wrap="square" lIns="50800" tIns="25400" rIns="50800" bIns="25400" rtlCol="0">
            <a:noAutofit/>
          </a:bodyPr>
          <a:lstStyle/>
          <a:p>
            <a:pPr algn="ctr"/>
            <a:r>
              <a:rPr lang="en-IN" sz="1300" b="1">
                <a:solidFill>
                  <a:srgbClr val="E6A014"/>
                </a:solidFill>
                <a:latin typeface="Calibri" panose="020F0502020204030204" pitchFamily="34" charset="0"/>
              </a:rPr>
              <a:t>INCONCLUSIVE</a:t>
            </a:r>
          </a:p>
        </p:txBody>
      </p:sp>
      <p:sp>
        <p:nvSpPr>
          <p:cNvPr id="20" name="TextBox 19">
            <a:extLst>
              <a:ext uri="{FF2B5EF4-FFF2-40B4-BE49-F238E27FC236}">
                <a16:creationId xmlns:a16="http://schemas.microsoft.com/office/drawing/2014/main" id="{00C138A6-7BC2-FF54-AD58-EEF501B0A422}"/>
              </a:ext>
            </a:extLst>
          </p:cNvPr>
          <p:cNvSpPr txBox="1"/>
          <p:nvPr/>
        </p:nvSpPr>
        <p:spPr>
          <a:xfrm>
            <a:off x="9906000" y="4495800"/>
            <a:ext cx="1778000" cy="369332"/>
          </a:xfrm>
          <a:prstGeom prst="rect">
            <a:avLst/>
          </a:prstGeom>
          <a:noFill/>
        </p:spPr>
        <p:txBody>
          <a:bodyPr vert="horz" wrap="square" lIns="50800" tIns="25400" rIns="50800" bIns="25400" rtlCol="0">
            <a:noAutofit/>
          </a:bodyPr>
          <a:lstStyle/>
          <a:p>
            <a:pPr algn="r"/>
            <a:r>
              <a:rPr lang="en-IN" sz="1300" b="1">
                <a:solidFill>
                  <a:srgbClr val="D2283C"/>
                </a:solidFill>
                <a:latin typeface="Calibri" panose="020F0502020204030204" pitchFamily="34" charset="0"/>
              </a:rPr>
              <a:t>DEEPFAKE + type</a:t>
            </a:r>
          </a:p>
        </p:txBody>
      </p:sp>
      <p:sp>
        <p:nvSpPr>
          <p:cNvPr id="21" name="TextBox 20">
            <a:extLst>
              <a:ext uri="{FF2B5EF4-FFF2-40B4-BE49-F238E27FC236}">
                <a16:creationId xmlns:a16="http://schemas.microsoft.com/office/drawing/2014/main" id="{B8E2344A-1C34-62A2-292B-638ECCE630BF}"/>
              </a:ext>
            </a:extLst>
          </p:cNvPr>
          <p:cNvSpPr txBox="1"/>
          <p:nvPr/>
        </p:nvSpPr>
        <p:spPr>
          <a:xfrm>
            <a:off x="508000" y="5207000"/>
            <a:ext cx="11176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400">
                <a:solidFill>
                  <a:srgbClr val="212121"/>
                </a:solidFill>
                <a:latin typeface="Calibri" panose="020F0502020204030204" pitchFamily="34" charset="0"/>
              </a:rPr>
              <a:t>No detector produced evidence (pure tone, no face) → Can't verify, no score shown</a:t>
            </a:r>
          </a:p>
          <a:p>
            <a:pPr marL="203200" indent="-203200">
              <a:spcAft>
                <a:spcPts val="600"/>
              </a:spcAft>
              <a:buFont typeface="+mj-lt"/>
              <a:buChar char="•"/>
            </a:pPr>
            <a:r>
              <a:rPr lang="en-US" sz="1400">
                <a:solidFill>
                  <a:srgbClr val="212121"/>
                </a:solidFill>
                <a:latin typeface="Calibri" panose="020F0502020204030204" pitchFamily="34" charset="0"/>
              </a:rPr>
              <a:t>AUTHENTIC demoted to inconclusive if a face was not found or the video picture was never checked</a:t>
            </a:r>
          </a:p>
          <a:p>
            <a:pPr marL="203200" indent="-203200">
              <a:spcAft>
                <a:spcPts val="600"/>
              </a:spcAft>
              <a:buFont typeface="+mj-lt"/>
              <a:buChar char="•"/>
            </a:pPr>
            <a:r>
              <a:rPr lang="en-US" sz="1400">
                <a:solidFill>
                  <a:srgbClr val="212121"/>
                </a:solidFill>
                <a:latin typeface="Calibri" panose="020F0502020204030204" pitchFamily="34" charset="0"/>
              </a:rPr>
              <a:t>PPO fusion [27] (VERITAS_FUSION_MODE=ppo) is experimental; it falls back to corrected_fixed when detectors differ</a:t>
            </a:r>
            <a:endParaRPr lang="en-IN" sz="1400">
              <a:solidFill>
                <a:srgbClr val="212121"/>
              </a:solidFill>
              <a:latin typeface="Calibri" panose="020F0502020204030204" pitchFamily="34" charset="0"/>
            </a:endParaRPr>
          </a:p>
        </p:txBody>
      </p:sp>
    </p:spTree>
    <p:extLst>
      <p:ext uri="{BB962C8B-B14F-4D97-AF65-F5344CB8AC3E}">
        <p14:creationId xmlns:p14="http://schemas.microsoft.com/office/powerpoint/2010/main" val="1895243338"/>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IMPLEMENTATION AND INTERFACE</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AB782D8C-111B-B471-2F63-05A87BEC714C}"/>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44572E14-5F7F-9F17-9282-2A7A1D815DBC}"/>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A0787A46-621C-E72C-5E6B-61AB93ED37C6}"/>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11</a:t>
            </a:r>
          </a:p>
        </p:txBody>
      </p:sp>
      <p:pic>
        <p:nvPicPr>
          <p:cNvPr id="8" name="Picture 7">
            <a:extLst>
              <a:ext uri="{FF2B5EF4-FFF2-40B4-BE49-F238E27FC236}">
                <a16:creationId xmlns:a16="http://schemas.microsoft.com/office/drawing/2014/main" id="{A1B4085C-0068-70E6-D9C5-6C5220F4B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1981201"/>
            <a:ext cx="4857136" cy="3962400"/>
          </a:xfrm>
          <a:prstGeom prst="rect">
            <a:avLst/>
          </a:prstGeom>
          <a:ln>
            <a:solidFill>
              <a:srgbClr val="C8C8C8"/>
            </a:solidFill>
          </a:ln>
        </p:spPr>
      </p:pic>
      <p:sp>
        <p:nvSpPr>
          <p:cNvPr id="9" name="TextBox 8">
            <a:extLst>
              <a:ext uri="{FF2B5EF4-FFF2-40B4-BE49-F238E27FC236}">
                <a16:creationId xmlns:a16="http://schemas.microsoft.com/office/drawing/2014/main" id="{8E1308A4-8C70-568C-63F6-46A00B96463C}"/>
              </a:ext>
            </a:extLst>
          </p:cNvPr>
          <p:cNvSpPr txBox="1"/>
          <p:nvPr/>
        </p:nvSpPr>
        <p:spPr>
          <a:xfrm>
            <a:off x="508000" y="5969001"/>
            <a:ext cx="4857136" cy="369332"/>
          </a:xfrm>
          <a:prstGeom prst="rect">
            <a:avLst/>
          </a:prstGeom>
          <a:noFill/>
        </p:spPr>
        <p:txBody>
          <a:bodyPr vert="horz" wrap="square" lIns="50800" tIns="25400" rIns="50800" bIns="25400" rtlCol="0">
            <a:noAutofit/>
          </a:bodyPr>
          <a:lstStyle/>
          <a:p>
            <a:r>
              <a:rPr lang="en-US" sz="1050">
                <a:solidFill>
                  <a:srgbClr val="6E6E6E"/>
                </a:solidFill>
                <a:latin typeface="Calibri" panose="020F0502020204030204" pitchFamily="34" charset="0"/>
              </a:rPr>
              <a:t>Console after analysing a FakeAVCeleb fake-video, fake-audio clip</a:t>
            </a:r>
            <a:endParaRPr lang="en-IN" sz="1050">
              <a:solidFill>
                <a:srgbClr val="6E6E6E"/>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7E49AAC2-3DA4-C3FA-3D7C-09D856674D24}"/>
              </a:ext>
            </a:extLst>
          </p:cNvPr>
          <p:cNvSpPr/>
          <p:nvPr/>
        </p:nvSpPr>
        <p:spPr>
          <a:xfrm>
            <a:off x="6858000" y="2032000"/>
            <a:ext cx="4826000" cy="5842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b="1">
                <a:solidFill>
                  <a:srgbClr val="B00020"/>
                </a:solidFill>
                <a:latin typeface="Calibri" panose="020F0502020204030204" pitchFamily="34" charset="0"/>
              </a:rPr>
              <a:t>1</a:t>
            </a:r>
            <a:r>
              <a:rPr lang="en-US" sz="1400">
                <a:solidFill>
                  <a:srgbClr val="212121"/>
                </a:solidFill>
                <a:latin typeface="Calibri" panose="020F0502020204030204" pitchFamily="34" charset="0"/>
              </a:rPr>
              <a:t>   Upload image, video or audio (checked: type, 50 MB)</a:t>
            </a:r>
            <a:endParaRPr lang="en-IN" sz="1400">
              <a:solidFill>
                <a:srgbClr val="212121"/>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C5AB3DA9-9FA1-4838-F143-B3D36B85DAA6}"/>
              </a:ext>
            </a:extLst>
          </p:cNvPr>
          <p:cNvSpPr/>
          <p:nvPr/>
        </p:nvSpPr>
        <p:spPr>
          <a:xfrm>
            <a:off x="6858000" y="2768600"/>
            <a:ext cx="4826000" cy="5842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b="1">
                <a:solidFill>
                  <a:srgbClr val="B00020"/>
                </a:solidFill>
                <a:latin typeface="Calibri" panose="020F0502020204030204" pitchFamily="34" charset="0"/>
              </a:rPr>
              <a:t>2</a:t>
            </a:r>
            <a:r>
              <a:rPr lang="en-US" sz="1400">
                <a:solidFill>
                  <a:srgbClr val="212121"/>
                </a:solidFill>
                <a:latin typeface="Calibri" panose="020F0502020204030204" pitchFamily="34" charset="0"/>
              </a:rPr>
              <a:t>   Detectors stream in: "Analysing, n of 4 reported"</a:t>
            </a:r>
            <a:endParaRPr lang="en-IN" sz="1400">
              <a:solidFill>
                <a:srgbClr val="212121"/>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5E56DFED-0004-68EA-E3CF-EF322D04DAD5}"/>
              </a:ext>
            </a:extLst>
          </p:cNvPr>
          <p:cNvSpPr/>
          <p:nvPr/>
        </p:nvSpPr>
        <p:spPr>
          <a:xfrm>
            <a:off x="6858000" y="3505200"/>
            <a:ext cx="4826000" cy="5842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b="1">
                <a:solidFill>
                  <a:srgbClr val="B00020"/>
                </a:solidFill>
                <a:latin typeface="Calibri" panose="020F0502020204030204" pitchFamily="34" charset="0"/>
              </a:rPr>
              <a:t>3</a:t>
            </a:r>
            <a:r>
              <a:rPr lang="en-US" sz="1400">
                <a:solidFill>
                  <a:srgbClr val="212121"/>
                </a:solidFill>
                <a:latin typeface="Calibri" panose="020F0502020204030204" pitchFamily="34" charset="0"/>
              </a:rPr>
              <a:t>   Verdict, fused score on the 0.45 / 0.55 scale</a:t>
            </a:r>
            <a:endParaRPr lang="en-IN" sz="1400">
              <a:solidFill>
                <a:srgbClr val="212121"/>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5FE4C8F2-29AA-E2AC-E7CF-8B2B22ED0BC6}"/>
              </a:ext>
            </a:extLst>
          </p:cNvPr>
          <p:cNvSpPr/>
          <p:nvPr/>
        </p:nvSpPr>
        <p:spPr>
          <a:xfrm>
            <a:off x="6858000" y="4241800"/>
            <a:ext cx="4826000" cy="5842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b="1">
                <a:solidFill>
                  <a:srgbClr val="B00020"/>
                </a:solidFill>
                <a:latin typeface="Calibri" panose="020F0502020204030204" pitchFamily="34" charset="0"/>
              </a:rPr>
              <a:t>4</a:t>
            </a:r>
            <a:r>
              <a:rPr lang="en-US" sz="1400">
                <a:solidFill>
                  <a:srgbClr val="212121"/>
                </a:solidFill>
                <a:latin typeface="Calibri" panose="020F0502020204030204" pitchFamily="34" charset="0"/>
              </a:rPr>
              <a:t>   Manipulation type (a hypothesis when inconclusive)</a:t>
            </a:r>
            <a:endParaRPr lang="en-IN" sz="1400">
              <a:solidFill>
                <a:srgbClr val="212121"/>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922388BD-DD22-5F51-5A3D-E972A4CA3AAA}"/>
              </a:ext>
            </a:extLst>
          </p:cNvPr>
          <p:cNvSpPr/>
          <p:nvPr/>
        </p:nvSpPr>
        <p:spPr>
          <a:xfrm>
            <a:off x="6858000" y="4978400"/>
            <a:ext cx="4826000" cy="5842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IN" b="1">
                <a:solidFill>
                  <a:srgbClr val="B00020"/>
                </a:solidFill>
                <a:latin typeface="Calibri" panose="020F0502020204030204" pitchFamily="34" charset="0"/>
              </a:rPr>
              <a:t>5</a:t>
            </a:r>
            <a:r>
              <a:rPr lang="en-IN" sz="1400">
                <a:solidFill>
                  <a:srgbClr val="212121"/>
                </a:solidFill>
                <a:latin typeface="Calibri" panose="020F0502020204030204" pitchFamily="34" charset="0"/>
              </a:rPr>
              <a:t>   Download JSON report</a:t>
            </a:r>
          </a:p>
        </p:txBody>
      </p:sp>
      <p:sp>
        <p:nvSpPr>
          <p:cNvPr id="15" name="TextBox 14">
            <a:extLst>
              <a:ext uri="{FF2B5EF4-FFF2-40B4-BE49-F238E27FC236}">
                <a16:creationId xmlns:a16="http://schemas.microsoft.com/office/drawing/2014/main" id="{24F13F68-03BB-8919-3A6E-071DC1A12F2C}"/>
              </a:ext>
            </a:extLst>
          </p:cNvPr>
          <p:cNvSpPr txBox="1"/>
          <p:nvPr/>
        </p:nvSpPr>
        <p:spPr>
          <a:xfrm>
            <a:off x="6858000" y="5740400"/>
            <a:ext cx="4826000" cy="369332"/>
          </a:xfrm>
          <a:prstGeom prst="rect">
            <a:avLst/>
          </a:prstGeom>
          <a:noFill/>
        </p:spPr>
        <p:txBody>
          <a:bodyPr vert="horz" wrap="square" lIns="50800" tIns="25400" rIns="50800" bIns="25400" rtlCol="0">
            <a:noAutofit/>
          </a:bodyPr>
          <a:lstStyle/>
          <a:p>
            <a:r>
              <a:rPr lang="en-IN" sz="1200">
                <a:solidFill>
                  <a:srgbClr val="6E6E6E"/>
                </a:solidFill>
                <a:latin typeface="Calibri" panose="020F0502020204030204" pitchFamily="34" charset="0"/>
              </a:rPr>
              <a:t>Stack: React 19, Vite 7, Tailwind CSS 4  |  FastAPI, PyTorch 2.6 (CPU inference), OpenCV, ffmpeg</a:t>
            </a:r>
          </a:p>
        </p:txBody>
      </p:sp>
    </p:spTree>
    <p:extLst>
      <p:ext uri="{BB962C8B-B14F-4D97-AF65-F5344CB8AC3E}">
        <p14:creationId xmlns:p14="http://schemas.microsoft.com/office/powerpoint/2010/main" val="2674130217"/>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RESULTS AND ANALYSIS</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9379DF3B-C4AE-2A19-F68D-D4A8EA8304E4}"/>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313470CF-083D-BA60-C59B-AC515D515412}"/>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DA5C5E1E-8001-A4FB-65E4-AD9955B74D3C}"/>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12</a:t>
            </a:r>
          </a:p>
        </p:txBody>
      </p:sp>
      <p:sp>
        <p:nvSpPr>
          <p:cNvPr id="7" name="TextBox 6">
            <a:extLst>
              <a:ext uri="{FF2B5EF4-FFF2-40B4-BE49-F238E27FC236}">
                <a16:creationId xmlns:a16="http://schemas.microsoft.com/office/drawing/2014/main" id="{0BF72665-18AD-E0F4-5D67-1FA658ABB254}"/>
              </a:ext>
            </a:extLst>
          </p:cNvPr>
          <p:cNvSpPr txBox="1"/>
          <p:nvPr/>
        </p:nvSpPr>
        <p:spPr>
          <a:xfrm>
            <a:off x="508000" y="1955800"/>
            <a:ext cx="5588000" cy="369332"/>
          </a:xfrm>
          <a:prstGeom prst="rect">
            <a:avLst/>
          </a:prstGeom>
          <a:noFill/>
        </p:spPr>
        <p:txBody>
          <a:bodyPr vert="horz" wrap="square" lIns="50800" tIns="25400" rIns="50800" bIns="25400" rtlCol="0">
            <a:noAutofit/>
          </a:bodyPr>
          <a:lstStyle/>
          <a:p>
            <a:pPr algn="ctr"/>
            <a:r>
              <a:rPr lang="en-IN" sz="1200" b="1">
                <a:solidFill>
                  <a:srgbClr val="212121"/>
                </a:solidFill>
                <a:latin typeface="Calibri" panose="020F0502020204030204" pitchFamily="34" charset="0"/>
              </a:rPr>
              <a:t>Spatial ROC-AUC under 8 degradations (fusion_val, 215 clips)</a:t>
            </a:r>
          </a:p>
        </p:txBody>
      </p:sp>
      <p:pic>
        <p:nvPicPr>
          <p:cNvPr id="9" name="Picture 8">
            <a:extLst>
              <a:ext uri="{FF2B5EF4-FFF2-40B4-BE49-F238E27FC236}">
                <a16:creationId xmlns:a16="http://schemas.microsoft.com/office/drawing/2014/main" id="{26754FD1-3237-2E3E-5057-7A27A93BDC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00" y="2235200"/>
            <a:ext cx="4996394" cy="2895600"/>
          </a:xfrm>
          <a:prstGeom prst="rect">
            <a:avLst/>
          </a:prstGeom>
        </p:spPr>
      </p:pic>
      <p:sp>
        <p:nvSpPr>
          <p:cNvPr id="10" name="TextBox 9">
            <a:extLst>
              <a:ext uri="{FF2B5EF4-FFF2-40B4-BE49-F238E27FC236}">
                <a16:creationId xmlns:a16="http://schemas.microsoft.com/office/drawing/2014/main" id="{2A6BA5DC-B5F1-F58A-5178-A4654262A2D4}"/>
              </a:ext>
            </a:extLst>
          </p:cNvPr>
          <p:cNvSpPr txBox="1"/>
          <p:nvPr/>
        </p:nvSpPr>
        <p:spPr>
          <a:xfrm>
            <a:off x="6350000" y="1955800"/>
            <a:ext cx="5334000" cy="369332"/>
          </a:xfrm>
          <a:prstGeom prst="rect">
            <a:avLst/>
          </a:prstGeom>
          <a:noFill/>
        </p:spPr>
        <p:txBody>
          <a:bodyPr vert="horz" wrap="square" lIns="50800" tIns="25400" rIns="50800" bIns="25400" rtlCol="0">
            <a:noAutofit/>
          </a:bodyPr>
          <a:lstStyle/>
          <a:p>
            <a:pPr algn="ctr"/>
            <a:r>
              <a:rPr lang="en-US" sz="1200" b="1">
                <a:solidFill>
                  <a:srgbClr val="212121"/>
                </a:solidFill>
                <a:latin typeface="Calibri" panose="020F0502020204030204" pitchFamily="34" charset="0"/>
              </a:rPr>
              <a:t>System errors, corrected_fixed, over 5 degraded scenarios (fusion_val)</a:t>
            </a:r>
            <a:endParaRPr lang="en-IN" sz="1200" b="1">
              <a:solidFill>
                <a:srgbClr val="212121"/>
              </a:solidFill>
              <a:latin typeface="Calibri" panose="020F0502020204030204" pitchFamily="34" charset="0"/>
            </a:endParaRPr>
          </a:p>
        </p:txBody>
      </p:sp>
      <p:pic>
        <p:nvPicPr>
          <p:cNvPr id="12" name="Picture 11">
            <a:extLst>
              <a:ext uri="{FF2B5EF4-FFF2-40B4-BE49-F238E27FC236}">
                <a16:creationId xmlns:a16="http://schemas.microsoft.com/office/drawing/2014/main" id="{D1F3DF60-272C-1338-6267-9FBF095579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04000" y="2235200"/>
            <a:ext cx="4899688" cy="2895600"/>
          </a:xfrm>
          <a:prstGeom prst="rect">
            <a:avLst/>
          </a:prstGeom>
        </p:spPr>
      </p:pic>
      <p:sp>
        <p:nvSpPr>
          <p:cNvPr id="13" name="Rectangle: Rounded Corners 12">
            <a:extLst>
              <a:ext uri="{FF2B5EF4-FFF2-40B4-BE49-F238E27FC236}">
                <a16:creationId xmlns:a16="http://schemas.microsoft.com/office/drawing/2014/main" id="{C37EFD40-3737-F5D9-E5AA-FCBF51B3DDD9}"/>
              </a:ext>
            </a:extLst>
          </p:cNvPr>
          <p:cNvSpPr/>
          <p:nvPr/>
        </p:nvSpPr>
        <p:spPr>
          <a:xfrm>
            <a:off x="508000" y="5207000"/>
            <a:ext cx="11176000" cy="1016000"/>
          </a:xfrm>
          <a:prstGeom prst="roundRect">
            <a:avLst>
              <a:gd name="adj" fmla="val 12000"/>
            </a:avLst>
          </a:prstGeom>
          <a:solidFill>
            <a:srgbClr val="FFF7E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300" b="1">
                <a:solidFill>
                  <a:srgbClr val="212121"/>
                </a:solidFill>
                <a:latin typeface="Calibri" panose="020F0502020204030204" pitchFamily="34" charset="0"/>
              </a:rPr>
              <a:t>Selected detectors: false DEEPFAKE on degraded real clips 119 → 6 of 250; missed fakes 53 → 64 of 825 (a deliberate trade-off).</a:t>
            </a:r>
          </a:p>
          <a:p>
            <a:r>
              <a:rPr lang="en-US" sz="1300">
                <a:solidFill>
                  <a:srgbClr val="212121"/>
                </a:solidFill>
                <a:latin typeface="Calibri" panose="020F0502020204030204" pitchFamily="34" charset="0"/>
              </a:rPr>
              <a:t>Evidence level: fusion_val was also used to select the models, so these are development results, not real-world accuracy. final_test has been inspected repeatedly and is not reported.</a:t>
            </a:r>
            <a:endParaRPr lang="en-IN" sz="1300">
              <a:solidFill>
                <a:srgbClr val="212121"/>
              </a:solidFill>
              <a:latin typeface="Calibri" panose="020F0502020204030204" pitchFamily="34" charset="0"/>
            </a:endParaRPr>
          </a:p>
        </p:txBody>
      </p:sp>
    </p:spTree>
    <p:extLst>
      <p:ext uri="{BB962C8B-B14F-4D97-AF65-F5344CB8AC3E}">
        <p14:creationId xmlns:p14="http://schemas.microsoft.com/office/powerpoint/2010/main" val="106591232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ROBUSTNESS, ERRORS AND LIMITATIONS</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32A459A1-9DDC-7E36-8B3A-45F3AD07DCC7}"/>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BDCD978E-0886-D423-91D9-4F47899F858A}"/>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EF471532-CEDF-175B-9D3D-2EEF3A8C1691}"/>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13</a:t>
            </a:r>
          </a:p>
        </p:txBody>
      </p:sp>
      <p:sp>
        <p:nvSpPr>
          <p:cNvPr id="7" name="TextBox 6">
            <a:extLst>
              <a:ext uri="{FF2B5EF4-FFF2-40B4-BE49-F238E27FC236}">
                <a16:creationId xmlns:a16="http://schemas.microsoft.com/office/drawing/2014/main" id="{80AD0163-3ED1-0446-A3CB-53F07056F867}"/>
              </a:ext>
            </a:extLst>
          </p:cNvPr>
          <p:cNvSpPr txBox="1"/>
          <p:nvPr/>
        </p:nvSpPr>
        <p:spPr>
          <a:xfrm>
            <a:off x="508000" y="1955800"/>
            <a:ext cx="5715000" cy="369332"/>
          </a:xfrm>
          <a:prstGeom prst="rect">
            <a:avLst/>
          </a:prstGeom>
          <a:noFill/>
        </p:spPr>
        <p:txBody>
          <a:bodyPr vert="horz" wrap="square" lIns="50800" tIns="25400" rIns="50800" bIns="25400" rtlCol="0">
            <a:noAutofit/>
          </a:bodyPr>
          <a:lstStyle/>
          <a:p>
            <a:pPr algn="ctr"/>
            <a:r>
              <a:rPr lang="en-IN" sz="1200" b="1">
                <a:solidFill>
                  <a:srgbClr val="212121"/>
                </a:solidFill>
                <a:latin typeface="Calibri" panose="020F0502020204030204" pitchFamily="34" charset="0"/>
              </a:rPr>
              <a:t>Temporal detector errors under degradation (fusion_val, 215 clips)</a:t>
            </a:r>
          </a:p>
        </p:txBody>
      </p:sp>
      <p:pic>
        <p:nvPicPr>
          <p:cNvPr id="9" name="Picture 8">
            <a:extLst>
              <a:ext uri="{FF2B5EF4-FFF2-40B4-BE49-F238E27FC236}">
                <a16:creationId xmlns:a16="http://schemas.microsoft.com/office/drawing/2014/main" id="{A9DAFE50-DCFC-2442-62CD-39D84E48AF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01" y="2235200"/>
            <a:ext cx="5199015" cy="2997200"/>
          </a:xfrm>
          <a:prstGeom prst="rect">
            <a:avLst/>
          </a:prstGeom>
        </p:spPr>
      </p:pic>
      <p:sp>
        <p:nvSpPr>
          <p:cNvPr id="10" name="TextBox 9">
            <a:extLst>
              <a:ext uri="{FF2B5EF4-FFF2-40B4-BE49-F238E27FC236}">
                <a16:creationId xmlns:a16="http://schemas.microsoft.com/office/drawing/2014/main" id="{59312407-58FB-55D0-4AA0-22D9A775FEBC}"/>
              </a:ext>
            </a:extLst>
          </p:cNvPr>
          <p:cNvSpPr txBox="1"/>
          <p:nvPr/>
        </p:nvSpPr>
        <p:spPr>
          <a:xfrm>
            <a:off x="6477000" y="2032000"/>
            <a:ext cx="5207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500">
                <a:solidFill>
                  <a:srgbClr val="212121"/>
                </a:solidFill>
                <a:latin typeface="Calibri" panose="020F0502020204030204" pitchFamily="34" charset="0"/>
              </a:rPr>
              <a:t>Temporal: JPEG and blur make real clips look fake; H.264 hides fakes</a:t>
            </a:r>
          </a:p>
          <a:p>
            <a:pPr marL="203200" indent="-203200">
              <a:spcAft>
                <a:spcPts val="600"/>
              </a:spcAft>
              <a:buFont typeface="+mj-lt"/>
              <a:buChar char="•"/>
            </a:pPr>
            <a:r>
              <a:rPr lang="en-US" sz="1500">
                <a:solidFill>
                  <a:srgbClr val="212121"/>
                </a:solidFill>
                <a:latin typeface="Calibri" panose="020F0502020204030204" pitchFamily="34" charset="0"/>
              </a:rPr>
              <a:t>All 64 missed fakes of the selected system are fake-video, real-audio clips after heavy compression</a:t>
            </a:r>
          </a:p>
          <a:p>
            <a:pPr marL="203200" indent="-203200">
              <a:spcAft>
                <a:spcPts val="600"/>
              </a:spcAft>
              <a:buFont typeface="+mj-lt"/>
              <a:buChar char="•"/>
            </a:pPr>
            <a:r>
              <a:rPr lang="en-US" sz="1500">
                <a:solidFill>
                  <a:srgbClr val="212121"/>
                </a:solidFill>
                <a:latin typeface="Calibri" panose="020F0502020204030204" pitchFamily="34" charset="0"/>
              </a:rPr>
              <a:t>Audio caught every fake-audio clip in every scenario</a:t>
            </a:r>
          </a:p>
          <a:p>
            <a:pPr marL="203200" indent="-203200">
              <a:spcAft>
                <a:spcPts val="600"/>
              </a:spcAft>
              <a:buFont typeface="+mj-lt"/>
              <a:buChar char="•"/>
            </a:pPr>
            <a:r>
              <a:rPr lang="en-US" sz="1500">
                <a:solidFill>
                  <a:srgbClr val="212121"/>
                </a:solidFill>
                <a:latin typeface="Calibri" panose="020F0502020204030204" pitchFamily="34" charset="0"/>
              </a:rPr>
              <a:t>Audio-and-video fakes can be attributed to audio only when visual evidence weakens</a:t>
            </a:r>
          </a:p>
          <a:p>
            <a:pPr marL="203200" indent="-203200">
              <a:spcAft>
                <a:spcPts val="600"/>
              </a:spcAft>
              <a:buFont typeface="+mj-lt"/>
              <a:buChar char="•"/>
            </a:pPr>
            <a:r>
              <a:rPr lang="en-US" sz="1500">
                <a:solidFill>
                  <a:srgbClr val="212121"/>
                </a:solidFill>
                <a:latin typeface="Calibri" panose="020F0502020204030204" pitchFamily="34" charset="0"/>
              </a:rPr>
              <a:t>Silence and pure tones → Can't verify; music and noise are still scored</a:t>
            </a:r>
          </a:p>
          <a:p>
            <a:pPr marL="203200" indent="-203200">
              <a:spcAft>
                <a:spcPts val="600"/>
              </a:spcAft>
              <a:buFont typeface="+mj-lt"/>
              <a:buChar char="•"/>
            </a:pPr>
            <a:r>
              <a:rPr lang="en-US" sz="1500">
                <a:solidFill>
                  <a:srgbClr val="212121"/>
                </a:solidFill>
                <a:latin typeface="Calibri" panose="020F0502020204030204" pitchFamily="34" charset="0"/>
              </a:rPr>
              <a:t>No independent real-world accuracy estimate yet</a:t>
            </a:r>
            <a:endParaRPr lang="en-IN" sz="1500">
              <a:solidFill>
                <a:srgbClr val="212121"/>
              </a:solidFill>
              <a:latin typeface="Calibri" panose="020F0502020204030204" pitchFamily="34" charset="0"/>
            </a:endParaRPr>
          </a:p>
        </p:txBody>
      </p:sp>
      <p:sp>
        <p:nvSpPr>
          <p:cNvPr id="11" name="TextBox 10">
            <a:extLst>
              <a:ext uri="{FF2B5EF4-FFF2-40B4-BE49-F238E27FC236}">
                <a16:creationId xmlns:a16="http://schemas.microsoft.com/office/drawing/2014/main" id="{30A47C2C-C94F-5105-0829-81AE7EF0EEB7}"/>
              </a:ext>
            </a:extLst>
          </p:cNvPr>
          <p:cNvSpPr txBox="1"/>
          <p:nvPr/>
        </p:nvSpPr>
        <p:spPr>
          <a:xfrm>
            <a:off x="508000" y="5461000"/>
            <a:ext cx="5715000" cy="369332"/>
          </a:xfrm>
          <a:prstGeom prst="rect">
            <a:avLst/>
          </a:prstGeom>
          <a:noFill/>
        </p:spPr>
        <p:txBody>
          <a:bodyPr vert="horz" wrap="square" lIns="50800" tIns="25400" rIns="50800" bIns="25400" rtlCol="0">
            <a:noAutofit/>
          </a:bodyPr>
          <a:lstStyle/>
          <a:p>
            <a:r>
              <a:rPr lang="en-US" sz="1200">
                <a:solidFill>
                  <a:srgbClr val="6E6E6E"/>
                </a:solidFill>
                <a:latin typeface="Calibri" panose="020F0502020204030204" pitchFamily="34" charset="0"/>
              </a:rPr>
              <a:t>Browser QA (10 inputs: images, videos with and without audio, audio-only, unverifiable) and 85/85 backend tests passed; QA checks execution, not accuracy.</a:t>
            </a:r>
            <a:endParaRPr lang="en-IN" sz="1200">
              <a:solidFill>
                <a:srgbClr val="6E6E6E"/>
              </a:solidFill>
              <a:latin typeface="Calibri" panose="020F0502020204030204" pitchFamily="34" charset="0"/>
            </a:endParaRPr>
          </a:p>
        </p:txBody>
      </p:sp>
    </p:spTree>
    <p:extLst>
      <p:ext uri="{BB962C8B-B14F-4D97-AF65-F5344CB8AC3E}">
        <p14:creationId xmlns:p14="http://schemas.microsoft.com/office/powerpoint/2010/main" val="409766806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CONCLUSION</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299CE099-AB81-C2CC-10BB-8FD43B88EDAF}"/>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C72F90A0-46C4-5763-D0E0-30E35B7FD4EC}"/>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4CCA0E41-DF12-6307-9F1F-FB2C68331041}"/>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14</a:t>
            </a:r>
          </a:p>
        </p:txBody>
      </p:sp>
      <p:sp>
        <p:nvSpPr>
          <p:cNvPr id="7" name="Rectangle: Rounded Corners 6">
            <a:extLst>
              <a:ext uri="{FF2B5EF4-FFF2-40B4-BE49-F238E27FC236}">
                <a16:creationId xmlns:a16="http://schemas.microsoft.com/office/drawing/2014/main" id="{4B9FC569-2191-8E1B-4690-83D9885FF979}"/>
              </a:ext>
            </a:extLst>
          </p:cNvPr>
          <p:cNvSpPr/>
          <p:nvPr/>
        </p:nvSpPr>
        <p:spPr>
          <a:xfrm>
            <a:off x="508000" y="2032000"/>
            <a:ext cx="3556000" cy="1422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400" b="1">
                <a:solidFill>
                  <a:srgbClr val="B00020"/>
                </a:solidFill>
                <a:latin typeface="Calibri" panose="020F0502020204030204" pitchFamily="34" charset="0"/>
              </a:rPr>
              <a:t>4</a:t>
            </a:r>
          </a:p>
          <a:p>
            <a:pPr algn="ctr"/>
            <a:r>
              <a:rPr lang="en-US" sz="1300">
                <a:solidFill>
                  <a:srgbClr val="212121"/>
                </a:solidFill>
                <a:latin typeface="Calibri" panose="020F0502020204030204" pitchFamily="34" charset="0"/>
              </a:rPr>
              <a:t>input types handled: image, video with / without audio, audio</a:t>
            </a:r>
            <a:endParaRPr lang="en-IN" sz="1300">
              <a:solidFill>
                <a:srgbClr val="212121"/>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0336D2C0-DA0E-338F-241C-CB9CFF6C0C25}"/>
              </a:ext>
            </a:extLst>
          </p:cNvPr>
          <p:cNvSpPr/>
          <p:nvPr/>
        </p:nvSpPr>
        <p:spPr>
          <a:xfrm>
            <a:off x="4267200" y="2032000"/>
            <a:ext cx="3556000" cy="1422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400" b="1">
                <a:solidFill>
                  <a:srgbClr val="B00020"/>
                </a:solidFill>
                <a:latin typeface="Calibri" panose="020F0502020204030204" pitchFamily="34" charset="0"/>
              </a:rPr>
              <a:t>6 / 250</a:t>
            </a:r>
          </a:p>
          <a:p>
            <a:pPr algn="ctr"/>
            <a:r>
              <a:rPr lang="en-US" sz="1300">
                <a:solidFill>
                  <a:srgbClr val="212121"/>
                </a:solidFill>
                <a:latin typeface="Calibri" panose="020F0502020204030204" pitchFamily="34" charset="0"/>
              </a:rPr>
              <a:t>false DEEPFAKE on degraded real clips (fusion_val)</a:t>
            </a:r>
            <a:endParaRPr lang="en-IN" sz="1300">
              <a:solidFill>
                <a:srgbClr val="212121"/>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CF185517-AFC9-3107-4661-E323839CA887}"/>
              </a:ext>
            </a:extLst>
          </p:cNvPr>
          <p:cNvSpPr/>
          <p:nvPr/>
        </p:nvSpPr>
        <p:spPr>
          <a:xfrm>
            <a:off x="8026400" y="2032000"/>
            <a:ext cx="3556000" cy="14224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r>
              <a:rPr lang="en-US" sz="3400" b="1">
                <a:solidFill>
                  <a:srgbClr val="B00020"/>
                </a:solidFill>
                <a:latin typeface="Calibri" panose="020F0502020204030204" pitchFamily="34" charset="0"/>
              </a:rPr>
              <a:t>85 / 85</a:t>
            </a:r>
          </a:p>
          <a:p>
            <a:pPr algn="ctr"/>
            <a:r>
              <a:rPr lang="en-US" sz="1300">
                <a:solidFill>
                  <a:srgbClr val="212121"/>
                </a:solidFill>
                <a:latin typeface="Calibri" panose="020F0502020204030204" pitchFamily="34" charset="0"/>
              </a:rPr>
              <a:t>backend tests passing</a:t>
            </a:r>
            <a:endParaRPr lang="en-IN" sz="1300">
              <a:solidFill>
                <a:srgbClr val="212121"/>
              </a:solidFill>
              <a:latin typeface="Calibri" panose="020F0502020204030204" pitchFamily="34" charset="0"/>
            </a:endParaRPr>
          </a:p>
        </p:txBody>
      </p:sp>
      <p:sp>
        <p:nvSpPr>
          <p:cNvPr id="10" name="TextBox 9">
            <a:extLst>
              <a:ext uri="{FF2B5EF4-FFF2-40B4-BE49-F238E27FC236}">
                <a16:creationId xmlns:a16="http://schemas.microsoft.com/office/drawing/2014/main" id="{78093A4F-1B5D-ECFA-779D-9420B18E810F}"/>
              </a:ext>
            </a:extLst>
          </p:cNvPr>
          <p:cNvSpPr txBox="1"/>
          <p:nvPr/>
        </p:nvSpPr>
        <p:spPr>
          <a:xfrm>
            <a:off x="508000" y="3683000"/>
            <a:ext cx="11176000" cy="369332"/>
          </a:xfrm>
          <a:prstGeom prst="rect">
            <a:avLst/>
          </a:prstGeom>
          <a:noFill/>
        </p:spPr>
        <p:txBody>
          <a:bodyPr vert="horz" wrap="square" lIns="50800" tIns="25400" rIns="50800" bIns="25400" rtlCol="0">
            <a:noAutofit/>
          </a:bodyPr>
          <a:lstStyle/>
          <a:p>
            <a:pPr marL="203200" indent="-203200">
              <a:spcAft>
                <a:spcPts val="600"/>
              </a:spcAft>
              <a:buFont typeface="+mj-lt"/>
              <a:buChar char="•"/>
            </a:pPr>
            <a:r>
              <a:rPr lang="en-US" sz="1600">
                <a:solidFill>
                  <a:srgbClr val="212121"/>
                </a:solidFill>
                <a:latin typeface="Calibri" panose="020F0502020204030204" pitchFamily="34" charset="0"/>
              </a:rPr>
              <a:t>VERITAS delivers an end-to-end multimodal detector: spatial, temporal and audio models, transparent fusion, abstention and a streaming console</a:t>
            </a:r>
          </a:p>
          <a:p>
            <a:pPr marL="203200" indent="-203200">
              <a:spcAft>
                <a:spcPts val="600"/>
              </a:spcAft>
              <a:buFont typeface="+mj-lt"/>
              <a:buChar char="•"/>
            </a:pPr>
            <a:r>
              <a:rPr lang="en-US" sz="1600">
                <a:solidFill>
                  <a:srgbClr val="212121"/>
                </a:solidFill>
                <a:latin typeface="Calibri" panose="020F0502020204030204" pitchFamily="34" charset="0"/>
              </a:rPr>
              <a:t>Augmented spatial and audio models are far more robust to re-encoding; the temporal model remains the weak point</a:t>
            </a:r>
          </a:p>
          <a:p>
            <a:pPr marL="203200" indent="-203200">
              <a:spcAft>
                <a:spcPts val="600"/>
              </a:spcAft>
              <a:buFont typeface="+mj-lt"/>
              <a:buChar char="•"/>
            </a:pPr>
            <a:r>
              <a:rPr lang="en-US" sz="1600">
                <a:solidFill>
                  <a:srgbClr val="212121"/>
                </a:solidFill>
                <a:latin typeface="Calibri" panose="020F0502020204030204" pitchFamily="34" charset="0"/>
              </a:rPr>
              <a:t>All quantitative results are development evidence on FakeAVCeleb; independent evaluation is still required</a:t>
            </a:r>
          </a:p>
          <a:p>
            <a:pPr marL="203200" indent="-203200">
              <a:spcAft>
                <a:spcPts val="600"/>
              </a:spcAft>
              <a:buFont typeface="+mj-lt"/>
              <a:buChar char="•"/>
            </a:pPr>
            <a:r>
              <a:rPr lang="en-US" sz="1600">
                <a:solidFill>
                  <a:srgbClr val="212121"/>
                </a:solidFill>
                <a:latin typeface="Calibri" panose="020F0502020204030204" pitchFamily="34" charset="0"/>
              </a:rPr>
              <a:t>Intended as decision support for human review, not as conclusive forensic proof</a:t>
            </a:r>
            <a:endParaRPr lang="en-IN" sz="1600">
              <a:solidFill>
                <a:srgbClr val="212121"/>
              </a:solidFill>
              <a:latin typeface="Calibri" panose="020F0502020204030204" pitchFamily="34" charset="0"/>
            </a:endParaRPr>
          </a:p>
        </p:txBody>
      </p:sp>
    </p:spTree>
    <p:extLst>
      <p:ext uri="{BB962C8B-B14F-4D97-AF65-F5344CB8AC3E}">
        <p14:creationId xmlns:p14="http://schemas.microsoft.com/office/powerpoint/2010/main" val="160012967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FUTURE SCOPE</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FCB17B47-CB26-6A73-7BD9-4B0BAC2328B5}"/>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1A374A5E-9D69-C756-C344-7A29BA0DA1CF}"/>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364AB8AC-4D97-86EF-2EC0-F7749AAF3D2D}"/>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15</a:t>
            </a:r>
          </a:p>
        </p:txBody>
      </p:sp>
      <p:sp>
        <p:nvSpPr>
          <p:cNvPr id="7" name="Rectangle: Rounded Corners 6">
            <a:extLst>
              <a:ext uri="{FF2B5EF4-FFF2-40B4-BE49-F238E27FC236}">
                <a16:creationId xmlns:a16="http://schemas.microsoft.com/office/drawing/2014/main" id="{90E59778-C780-B826-5B3D-9CF6681D28A5}"/>
              </a:ext>
            </a:extLst>
          </p:cNvPr>
          <p:cNvSpPr/>
          <p:nvPr/>
        </p:nvSpPr>
        <p:spPr>
          <a:xfrm>
            <a:off x="508000" y="2032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Temporal robustness</a:t>
            </a:r>
          </a:p>
          <a:p>
            <a:r>
              <a:rPr lang="en-US" sz="1400">
                <a:solidFill>
                  <a:srgbClr val="212121"/>
                </a:solidFill>
                <a:latin typeface="Calibri" panose="020F0502020204030204" pitchFamily="34" charset="0"/>
              </a:rPr>
              <a:t>Retrain R3D-18 with JPEG, rescale, blur and H.264 augmentation</a:t>
            </a:r>
            <a:endParaRPr lang="en-IN" sz="1400">
              <a:solidFill>
                <a:srgbClr val="212121"/>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E8EF1670-DB75-9F7B-A20C-6DB72D082600}"/>
              </a:ext>
            </a:extLst>
          </p:cNvPr>
          <p:cNvSpPr/>
          <p:nvPr/>
        </p:nvSpPr>
        <p:spPr>
          <a:xfrm>
            <a:off x="6146800" y="2032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Independent evaluation</a:t>
            </a:r>
          </a:p>
          <a:p>
            <a:r>
              <a:rPr lang="en-US" sz="1400">
                <a:solidFill>
                  <a:srgbClr val="212121"/>
                </a:solidFill>
                <a:latin typeface="Calibri" panose="020F0502020204030204" pitchFamily="34" charset="0"/>
              </a:rPr>
              <a:t>New data gathered after model selection, used once</a:t>
            </a:r>
            <a:endParaRPr lang="en-IN" sz="1400">
              <a:solidFill>
                <a:srgbClr val="212121"/>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40DA8986-8580-9438-23E6-F0648F0A842A}"/>
              </a:ext>
            </a:extLst>
          </p:cNvPr>
          <p:cNvSpPr/>
          <p:nvPr/>
        </p:nvSpPr>
        <p:spPr>
          <a:xfrm>
            <a:off x="508000" y="3429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Broader data</a:t>
            </a:r>
          </a:p>
          <a:p>
            <a:r>
              <a:rPr lang="en-US" sz="1400">
                <a:solidFill>
                  <a:srgbClr val="212121"/>
                </a:solidFill>
                <a:latin typeface="Calibri" panose="020F0502020204030204" pitchFamily="34" charset="0"/>
              </a:rPr>
              <a:t>More generators, including recent diffusion face and voice synthesis</a:t>
            </a:r>
            <a:endParaRPr lang="en-IN" sz="1400">
              <a:solidFill>
                <a:srgbClr val="212121"/>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2542FBFD-AC7E-7827-5DA3-8BCFF223EC02}"/>
              </a:ext>
            </a:extLst>
          </p:cNvPr>
          <p:cNvSpPr/>
          <p:nvPr/>
        </p:nvSpPr>
        <p:spPr>
          <a:xfrm>
            <a:off x="6146800" y="3429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Audio-visual consistency</a:t>
            </a:r>
          </a:p>
          <a:p>
            <a:r>
              <a:rPr lang="en-US" sz="1400">
                <a:solidFill>
                  <a:srgbClr val="212121"/>
                </a:solidFill>
                <a:latin typeface="Calibri" panose="020F0502020204030204" pitchFamily="34" charset="0"/>
              </a:rPr>
              <a:t>Learned sync model and better manipulation-type attribution</a:t>
            </a:r>
            <a:endParaRPr lang="en-IN" sz="1400">
              <a:solidFill>
                <a:srgbClr val="212121"/>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53B568BF-3DBC-60FB-9D5A-AFE3586CB78D}"/>
              </a:ext>
            </a:extLst>
          </p:cNvPr>
          <p:cNvSpPr/>
          <p:nvPr/>
        </p:nvSpPr>
        <p:spPr>
          <a:xfrm>
            <a:off x="508000" y="4826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Calibration and OOD</a:t>
            </a:r>
          </a:p>
          <a:p>
            <a:r>
              <a:rPr lang="en-US" sz="1400">
                <a:solidFill>
                  <a:srgbClr val="212121"/>
                </a:solidFill>
                <a:latin typeface="Calibri" panose="020F0502020204030204" pitchFamily="34" charset="0"/>
              </a:rPr>
              <a:t>Calibrated probabilities; flag music, non-face and other unseen input</a:t>
            </a:r>
            <a:endParaRPr lang="en-IN" sz="1400">
              <a:solidFill>
                <a:srgbClr val="212121"/>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FE4B97F7-7D00-F63B-3B07-A66C9650A62A}"/>
              </a:ext>
            </a:extLst>
          </p:cNvPr>
          <p:cNvSpPr/>
          <p:nvPr/>
        </p:nvSpPr>
        <p:spPr>
          <a:xfrm>
            <a:off x="6146800" y="4826000"/>
            <a:ext cx="5537200" cy="1244600"/>
          </a:xfrm>
          <a:prstGeom prst="roundRect">
            <a:avLst>
              <a:gd name="adj" fmla="val 12000"/>
            </a:avLst>
          </a:prstGeom>
          <a:solidFill>
            <a:srgbClr val="F4F5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r>
              <a:rPr lang="en-US" sz="1700" b="1">
                <a:solidFill>
                  <a:srgbClr val="B00020"/>
                </a:solidFill>
                <a:latin typeface="Calibri" panose="020F0502020204030204" pitchFamily="34" charset="0"/>
              </a:rPr>
              <a:t>Explanations and fusion</a:t>
            </a:r>
          </a:p>
          <a:p>
            <a:r>
              <a:rPr lang="en-US" sz="1400">
                <a:solidFill>
                  <a:srgbClr val="212121"/>
                </a:solidFill>
                <a:latin typeface="Calibri" panose="020F0502020204030204" pitchFamily="34" charset="0"/>
              </a:rPr>
              <a:t>Validated Grad-CAM [29] heatmaps; retrain PPO fusion on current detectors</a:t>
            </a:r>
            <a:endParaRPr lang="en-IN" sz="1400">
              <a:solidFill>
                <a:srgbClr val="212121"/>
              </a:solidFill>
              <a:latin typeface="Calibri" panose="020F0502020204030204" pitchFamily="34" charset="0"/>
            </a:endParaRPr>
          </a:p>
        </p:txBody>
      </p:sp>
    </p:spTree>
    <p:extLst>
      <p:ext uri="{BB962C8B-B14F-4D97-AF65-F5344CB8AC3E}">
        <p14:creationId xmlns:p14="http://schemas.microsoft.com/office/powerpoint/2010/main" val="275966245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9D93-B15F-D792-335B-2E5DF32D1ED2}"/>
              </a:ext>
            </a:extLst>
          </p:cNvPr>
          <p:cNvSpPr>
            <a:spLocks noGrp="1"/>
          </p:cNvSpPr>
          <p:nvPr>
            <p:ph type="ctrTitle"/>
          </p:nvPr>
        </p:nvSpPr>
        <p:spPr>
          <a:xfrm>
            <a:off x="508000" y="1219200"/>
            <a:ext cx="11176000" cy="685800"/>
          </a:xfrm>
        </p:spPr>
        <p:txBody>
          <a:bodyPr wrap="square" anchor="ctr">
            <a:normAutofit/>
          </a:bodyPr>
          <a:lstStyle/>
          <a:p>
            <a:r>
              <a:rPr lang="en-IN" sz="3600">
                <a:solidFill>
                  <a:srgbClr val="212121"/>
                </a:solidFill>
                <a:latin typeface="Calibri Light" panose="020F0302020204030204" pitchFamily="34" charset="0"/>
              </a:rPr>
              <a:t>REFERENCES AND ACKNOWLEDGEMENTS</a:t>
            </a:r>
            <a:endParaRPr lang="en-IN" sz="3600" dirty="0">
              <a:solidFill>
                <a:srgbClr val="212121"/>
              </a:solidFill>
              <a:latin typeface="Calibri Light" panose="020F0302020204030204" pitchFamily="34" charset="0"/>
            </a:endParaRPr>
          </a:p>
        </p:txBody>
      </p:sp>
      <p:sp>
        <p:nvSpPr>
          <p:cNvPr id="3" name="Subtitle 2">
            <a:extLst>
              <a:ext uri="{FF2B5EF4-FFF2-40B4-BE49-F238E27FC236}">
                <a16:creationId xmlns:a16="http://schemas.microsoft.com/office/drawing/2014/main" id="{D95540B5-4A3B-66D1-F3F4-FBCAEA44E9CB}"/>
              </a:ext>
            </a:extLst>
          </p:cNvPr>
          <p:cNvSpPr>
            <a:spLocks noGrp="1"/>
          </p:cNvSpPr>
          <p:nvPr>
            <p:ph type="subTitle" idx="1"/>
          </p:nvPr>
        </p:nvSpPr>
        <p:spPr/>
        <p:txBody>
          <a:bodyPr/>
          <a:lstStyle/>
          <a:p>
            <a:endParaRPr lang="en-IN"/>
          </a:p>
        </p:txBody>
      </p:sp>
      <p:sp>
        <p:nvSpPr>
          <p:cNvPr id="5" name="TextBox 4">
            <a:extLst>
              <a:ext uri="{FF2B5EF4-FFF2-40B4-BE49-F238E27FC236}">
                <a16:creationId xmlns:a16="http://schemas.microsoft.com/office/drawing/2014/main" id="{9425FBF8-A6DD-D684-0D13-CB7A2AEA15D7}"/>
              </a:ext>
            </a:extLst>
          </p:cNvPr>
          <p:cNvSpPr txBox="1"/>
          <p:nvPr/>
        </p:nvSpPr>
        <p:spPr>
          <a:xfrm>
            <a:off x="4191000" y="6375400"/>
            <a:ext cx="3810000" cy="369332"/>
          </a:xfrm>
          <a:prstGeom prst="rect">
            <a:avLst/>
          </a:prstGeom>
          <a:noFill/>
        </p:spPr>
        <p:txBody>
          <a:bodyPr vert="horz" wrap="square" lIns="50800" tIns="25400" rIns="50800" bIns="25400" rtlCol="0">
            <a:noAutofit/>
          </a:bodyPr>
          <a:lstStyle/>
          <a:p>
            <a:pPr algn="ctr"/>
            <a:r>
              <a:rPr lang="en-US" sz="1050">
                <a:solidFill>
                  <a:srgbClr val="6E6E6E"/>
                </a:solidFill>
                <a:latin typeface="Calibri" panose="020F0502020204030204" pitchFamily="34" charset="0"/>
              </a:rPr>
              <a:t>Capstone Project Review, AY 26-27, STME, NMIMS Navi Mumbai</a:t>
            </a:r>
            <a:endParaRPr lang="en-IN" sz="1050">
              <a:solidFill>
                <a:srgbClr val="6E6E6E"/>
              </a:solidFill>
              <a:latin typeface="Calibri" panose="020F0502020204030204" pitchFamily="34" charset="0"/>
            </a:endParaRPr>
          </a:p>
        </p:txBody>
      </p:sp>
      <p:sp>
        <p:nvSpPr>
          <p:cNvPr id="6" name="TextBox 5">
            <a:extLst>
              <a:ext uri="{FF2B5EF4-FFF2-40B4-BE49-F238E27FC236}">
                <a16:creationId xmlns:a16="http://schemas.microsoft.com/office/drawing/2014/main" id="{DCA32E80-DCA5-F07C-4FB3-54349BC45EDD}"/>
              </a:ext>
            </a:extLst>
          </p:cNvPr>
          <p:cNvSpPr txBox="1"/>
          <p:nvPr/>
        </p:nvSpPr>
        <p:spPr>
          <a:xfrm>
            <a:off x="10922000" y="6375400"/>
            <a:ext cx="762000" cy="369332"/>
          </a:xfrm>
          <a:prstGeom prst="rect">
            <a:avLst/>
          </a:prstGeom>
          <a:noFill/>
        </p:spPr>
        <p:txBody>
          <a:bodyPr vert="horz" wrap="square" lIns="50800" tIns="25400" rIns="50800" bIns="25400" rtlCol="0">
            <a:noAutofit/>
          </a:bodyPr>
          <a:lstStyle/>
          <a:p>
            <a:pPr algn="r"/>
            <a:r>
              <a:rPr lang="en-IN" sz="1050">
                <a:solidFill>
                  <a:srgbClr val="6E6E6E"/>
                </a:solidFill>
                <a:latin typeface="Calibri" panose="020F0502020204030204" pitchFamily="34" charset="0"/>
              </a:rPr>
              <a:t>16</a:t>
            </a:r>
          </a:p>
        </p:txBody>
      </p:sp>
      <p:sp>
        <p:nvSpPr>
          <p:cNvPr id="7" name="TextBox 6">
            <a:extLst>
              <a:ext uri="{FF2B5EF4-FFF2-40B4-BE49-F238E27FC236}">
                <a16:creationId xmlns:a16="http://schemas.microsoft.com/office/drawing/2014/main" id="{A15E78A4-C51B-1E01-0350-4AE8BD8BB79A}"/>
              </a:ext>
            </a:extLst>
          </p:cNvPr>
          <p:cNvSpPr txBox="1"/>
          <p:nvPr/>
        </p:nvSpPr>
        <p:spPr>
          <a:xfrm>
            <a:off x="508000" y="1905000"/>
            <a:ext cx="11176000" cy="369332"/>
          </a:xfrm>
          <a:prstGeom prst="rect">
            <a:avLst/>
          </a:prstGeom>
          <a:noFill/>
        </p:spPr>
        <p:txBody>
          <a:bodyPr vert="horz" wrap="square" lIns="50800" tIns="25400" rIns="50800" bIns="25400" rtlCol="0">
            <a:noAutofit/>
          </a:bodyPr>
          <a:lstStyle/>
          <a:p>
            <a:pPr>
              <a:spcAft>
                <a:spcPts val="100"/>
              </a:spcAft>
            </a:pPr>
            <a:r>
              <a:rPr lang="en-IN" sz="1050">
                <a:solidFill>
                  <a:srgbClr val="212121"/>
                </a:solidFill>
                <a:latin typeface="Calibri" panose="020F0502020204030204" pitchFamily="34" charset="0"/>
              </a:rPr>
              <a:t>[1] I. J. Goodfellow et al., "Generative adversarial nets," in NeurIPS, 2014.</a:t>
            </a:r>
          </a:p>
          <a:p>
            <a:pPr>
              <a:spcAft>
                <a:spcPts val="100"/>
              </a:spcAft>
            </a:pPr>
            <a:r>
              <a:rPr lang="en-IN" sz="1050">
                <a:solidFill>
                  <a:srgbClr val="212121"/>
                </a:solidFill>
                <a:latin typeface="Calibri" panose="020F0502020204030204" pitchFamily="34" charset="0"/>
              </a:rPr>
              <a:t>[2] J. Ho et al., "Denoising diffusion probabilistic models," in NeurIPS, 2020.</a:t>
            </a:r>
          </a:p>
          <a:p>
            <a:pPr>
              <a:spcAft>
                <a:spcPts val="100"/>
              </a:spcAft>
            </a:pPr>
            <a:r>
              <a:rPr lang="en-IN" sz="1050">
                <a:solidFill>
                  <a:srgbClr val="212121"/>
                </a:solidFill>
                <a:latin typeface="Calibri" panose="020F0502020204030204" pitchFamily="34" charset="0"/>
              </a:rPr>
              <a:t>[3] R. Tolosana et al., "DeepFakes and beyond: A survey of face manipulation and fake detection," Information Fusion, vol. 64, 2020.</a:t>
            </a:r>
          </a:p>
          <a:p>
            <a:pPr>
              <a:spcAft>
                <a:spcPts val="100"/>
              </a:spcAft>
            </a:pPr>
            <a:r>
              <a:rPr lang="en-IN" sz="1050">
                <a:solidFill>
                  <a:srgbClr val="212121"/>
                </a:solidFill>
                <a:latin typeface="Calibri" panose="020F0502020204030204" pitchFamily="34" charset="0"/>
              </a:rPr>
              <a:t>[4] Y. Mirsky and W. Lee, "The creation and detection of deepfakes: A survey," ACM Computing Surveys, vol. 54, no. 1, Art. no. 7, 2021.</a:t>
            </a:r>
          </a:p>
          <a:p>
            <a:pPr>
              <a:spcAft>
                <a:spcPts val="100"/>
              </a:spcAft>
            </a:pPr>
            <a:r>
              <a:rPr lang="en-IN" sz="1050">
                <a:solidFill>
                  <a:srgbClr val="212121"/>
                </a:solidFill>
                <a:latin typeface="Calibri" panose="020F0502020204030204" pitchFamily="34" charset="0"/>
              </a:rPr>
              <a:t>[5] A. Rössler et al., "FaceForensics++: Learning to detect manipulated facial images," in ICCV, 2019.</a:t>
            </a:r>
          </a:p>
          <a:p>
            <a:pPr>
              <a:spcAft>
                <a:spcPts val="100"/>
              </a:spcAft>
            </a:pPr>
            <a:r>
              <a:rPr lang="en-IN" sz="1050">
                <a:solidFill>
                  <a:srgbClr val="212121"/>
                </a:solidFill>
                <a:latin typeface="Calibri" panose="020F0502020204030204" pitchFamily="34" charset="0"/>
              </a:rPr>
              <a:t>[8] H. Khalid et al., "FakeAVCeleb: A novel audio-video multimodal deepfake dataset," in Proc. Neural Information Processing Systems Track on Datasets and Benchmarks, 2021.</a:t>
            </a:r>
          </a:p>
          <a:p>
            <a:pPr>
              <a:spcAft>
                <a:spcPts val="100"/>
              </a:spcAft>
            </a:pPr>
            <a:r>
              <a:rPr lang="en-IN" sz="1050">
                <a:solidFill>
                  <a:srgbClr val="212121"/>
                </a:solidFill>
                <a:latin typeface="Calibri" panose="020F0502020204030204" pitchFamily="34" charset="0"/>
              </a:rPr>
              <a:t>[9] D. Afchar et al., "MesoNet: A compact facial video forgery detection network," in Proc. IEEE Int. Workshop on Information Forensics and Security (WIFS), 2018.</a:t>
            </a:r>
          </a:p>
          <a:p>
            <a:pPr>
              <a:spcAft>
                <a:spcPts val="100"/>
              </a:spcAft>
            </a:pPr>
            <a:r>
              <a:rPr lang="en-IN" sz="1050">
                <a:solidFill>
                  <a:srgbClr val="212121"/>
                </a:solidFill>
                <a:latin typeface="Calibri" panose="020F0502020204030204" pitchFamily="34" charset="0"/>
              </a:rPr>
              <a:t>[10] L. Li et al., "Face X-ray for more general face forgery detection," in CVPR, 2020.</a:t>
            </a:r>
          </a:p>
          <a:p>
            <a:pPr>
              <a:spcAft>
                <a:spcPts val="100"/>
              </a:spcAft>
            </a:pPr>
            <a:r>
              <a:rPr lang="en-IN" sz="1050">
                <a:solidFill>
                  <a:srgbClr val="212121"/>
                </a:solidFill>
                <a:latin typeface="Calibri" panose="020F0502020204030204" pitchFamily="34" charset="0"/>
              </a:rPr>
              <a:t>[12] A. Haliassos et al., "Lips don't lie: A generalisable and robust approach to face forgery detection," in CVPR, 2021.</a:t>
            </a:r>
          </a:p>
          <a:p>
            <a:pPr>
              <a:spcAft>
                <a:spcPts val="100"/>
              </a:spcAft>
            </a:pPr>
            <a:r>
              <a:rPr lang="en-IN" sz="1050">
                <a:solidFill>
                  <a:srgbClr val="212121"/>
                </a:solidFill>
                <a:latin typeface="Calibri" panose="020F0502020204030204" pitchFamily="34" charset="0"/>
              </a:rPr>
              <a:t>[14] H. Tak et al., "End-to-end anti-spoofing with RawNet2," in ICASSP, 2021.</a:t>
            </a:r>
          </a:p>
          <a:p>
            <a:pPr>
              <a:spcAft>
                <a:spcPts val="100"/>
              </a:spcAft>
            </a:pPr>
            <a:r>
              <a:rPr lang="en-IN" sz="1050">
                <a:solidFill>
                  <a:srgbClr val="212121"/>
                </a:solidFill>
                <a:latin typeface="Calibri" panose="020F0502020204030204" pitchFamily="34" charset="0"/>
              </a:rPr>
              <a:t>[15] J.-w. Jung et al., "AASIST: Audio anti-spoofing using integrated spectro-temporal graph attention networks," in ICASSP, 2022.</a:t>
            </a:r>
          </a:p>
          <a:p>
            <a:pPr>
              <a:spcAft>
                <a:spcPts val="100"/>
              </a:spcAft>
            </a:pPr>
            <a:r>
              <a:rPr lang="en-IN" sz="1050">
                <a:solidFill>
                  <a:srgbClr val="212121"/>
                </a:solidFill>
                <a:latin typeface="Calibri" panose="020F0502020204030204" pitchFamily="34" charset="0"/>
              </a:rPr>
              <a:t>[20] M. Tan and Q. V. Le, "EfficientNet: Rethinking model scaling for convolutional neural networks," in Proc. 36th Int. Conf. Machine Learning (ICML), PMLR vol. 97, 2019.</a:t>
            </a:r>
          </a:p>
          <a:p>
            <a:pPr>
              <a:spcAft>
                <a:spcPts val="100"/>
              </a:spcAft>
            </a:pPr>
            <a:r>
              <a:rPr lang="en-IN" sz="1050">
                <a:solidFill>
                  <a:srgbClr val="212121"/>
                </a:solidFill>
                <a:latin typeface="Calibri" panose="020F0502020204030204" pitchFamily="34" charset="0"/>
              </a:rPr>
              <a:t>[21] J. Deng et al., "ImageNet: A large-scale hierarchical image database," in CVPR, 2009.</a:t>
            </a:r>
          </a:p>
          <a:p>
            <a:pPr>
              <a:spcAft>
                <a:spcPts val="100"/>
              </a:spcAft>
            </a:pPr>
            <a:r>
              <a:rPr lang="en-IN" sz="1050">
                <a:solidFill>
                  <a:srgbClr val="212121"/>
                </a:solidFill>
                <a:latin typeface="Calibri" panose="020F0502020204030204" pitchFamily="34" charset="0"/>
              </a:rPr>
              <a:t>[22] D. Tran et al., "A closer look at spatiotemporal convolutions for action recognition," in CVPR, 2018.</a:t>
            </a:r>
          </a:p>
          <a:p>
            <a:pPr>
              <a:spcAft>
                <a:spcPts val="100"/>
              </a:spcAft>
            </a:pPr>
            <a:r>
              <a:rPr lang="en-IN" sz="1050">
                <a:solidFill>
                  <a:srgbClr val="212121"/>
                </a:solidFill>
                <a:latin typeface="Calibri" panose="020F0502020204030204" pitchFamily="34" charset="0"/>
              </a:rPr>
              <a:t>[23] W. Kay et al., "The Kinetics human action video dataset," arXiv preprint arXiv:1705.06950, 2017.</a:t>
            </a:r>
          </a:p>
          <a:p>
            <a:pPr>
              <a:spcAft>
                <a:spcPts val="100"/>
              </a:spcAft>
            </a:pPr>
            <a:r>
              <a:rPr lang="en-IN" sz="1050">
                <a:solidFill>
                  <a:srgbClr val="212121"/>
                </a:solidFill>
                <a:latin typeface="Calibri" panose="020F0502020204030204" pitchFamily="34" charset="0"/>
              </a:rPr>
              <a:t>[24] S. Hershey et al., "CNN architectures for large-scale audio classification," in ICASSP, 2017.</a:t>
            </a:r>
          </a:p>
          <a:p>
            <a:pPr>
              <a:spcAft>
                <a:spcPts val="100"/>
              </a:spcAft>
            </a:pPr>
            <a:r>
              <a:rPr lang="en-IN" sz="1050">
                <a:solidFill>
                  <a:srgbClr val="212121"/>
                </a:solidFill>
                <a:latin typeface="Calibri" panose="020F0502020204030204" pitchFamily="34" charset="0"/>
              </a:rPr>
              <a:t>[25] T. Mittal et al., "Emotions don't lie: An audio-visual deepfake detection method using affective cues," in Proc. 28th ACM Int. Conf. Multimedia (MM), 2020.</a:t>
            </a:r>
          </a:p>
          <a:p>
            <a:pPr>
              <a:spcAft>
                <a:spcPts val="100"/>
              </a:spcAft>
            </a:pPr>
            <a:r>
              <a:rPr lang="en-IN" sz="1050">
                <a:solidFill>
                  <a:srgbClr val="212121"/>
                </a:solidFill>
                <a:latin typeface="Calibri" panose="020F0502020204030204" pitchFamily="34" charset="0"/>
              </a:rPr>
              <a:t>[26] K. Chugh et al., "Not made for each other: Audio-visual dissonance-based deepfake detection and localization," in Proc. 28th ACM Int. Conf. Multimedia (MM), 2020.</a:t>
            </a:r>
          </a:p>
          <a:p>
            <a:pPr>
              <a:spcAft>
                <a:spcPts val="100"/>
              </a:spcAft>
            </a:pPr>
            <a:r>
              <a:rPr lang="en-IN" sz="1050">
                <a:solidFill>
                  <a:srgbClr val="212121"/>
                </a:solidFill>
                <a:latin typeface="Calibri" panose="020F0502020204030204" pitchFamily="34" charset="0"/>
              </a:rPr>
              <a:t>[27] J. Schulman et al., "Proximal policy optimization algorithms," arXiv preprint arXiv:1707.06347, 2017.</a:t>
            </a:r>
          </a:p>
          <a:p>
            <a:pPr>
              <a:spcAft>
                <a:spcPts val="100"/>
              </a:spcAft>
            </a:pPr>
            <a:r>
              <a:rPr lang="en-IN" sz="1050">
                <a:solidFill>
                  <a:srgbClr val="212121"/>
                </a:solidFill>
                <a:latin typeface="Calibri" panose="020F0502020204030204" pitchFamily="34" charset="0"/>
              </a:rPr>
              <a:t>[29] R. R. Selvaraju et al., "Grad-CAM: Visual explanations from deep networks via gradient-based localization," in ICCV, 2017.</a:t>
            </a:r>
          </a:p>
        </p:txBody>
      </p:sp>
      <p:sp>
        <p:nvSpPr>
          <p:cNvPr id="8" name="TextBox 7">
            <a:extLst>
              <a:ext uri="{FF2B5EF4-FFF2-40B4-BE49-F238E27FC236}">
                <a16:creationId xmlns:a16="http://schemas.microsoft.com/office/drawing/2014/main" id="{A01A182B-C5B5-0C6C-C804-6E9EC0BE2BE7}"/>
              </a:ext>
            </a:extLst>
          </p:cNvPr>
          <p:cNvSpPr txBox="1"/>
          <p:nvPr/>
        </p:nvSpPr>
        <p:spPr>
          <a:xfrm>
            <a:off x="508000" y="5918200"/>
            <a:ext cx="11176000" cy="381000"/>
          </a:xfrm>
          <a:prstGeom prst="rect">
            <a:avLst/>
          </a:prstGeom>
          <a:noFill/>
        </p:spPr>
        <p:txBody>
          <a:bodyPr vert="horz" wrap="square" lIns="50800" tIns="25400" rIns="50800" bIns="25400" rtlCol="0">
            <a:noAutofit/>
          </a:bodyPr>
          <a:lstStyle/>
          <a:p>
            <a:r>
              <a:rPr lang="en-US" sz="1200" b="1">
                <a:solidFill>
                  <a:srgbClr val="B00020"/>
                </a:solidFill>
                <a:latin typeface="Calibri" panose="020F0502020204030204" pitchFamily="34" charset="0"/>
              </a:rPr>
              <a:t>Numbering follows the project report.  We thank Dr. Preeti Agarwal, Faculty Mentor, STME, and STME, SVKM's NMIMS, Navi Mumbai.</a:t>
            </a:r>
            <a:endParaRPr lang="en-IN" sz="1200" b="1">
              <a:solidFill>
                <a:srgbClr val="B00020"/>
              </a:solidFill>
              <a:latin typeface="Calibri" panose="020F0502020204030204" pitchFamily="34" charset="0"/>
            </a:endParaRPr>
          </a:p>
        </p:txBody>
      </p:sp>
    </p:spTree>
    <p:extLst>
      <p:ext uri="{BB962C8B-B14F-4D97-AF65-F5344CB8AC3E}">
        <p14:creationId xmlns:p14="http://schemas.microsoft.com/office/powerpoint/2010/main" val="80421424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theme/theme1.xml><?xml version="1.0" encoding="utf-8"?>
<a:theme xmlns:a="http://schemas.openxmlformats.org/drawingml/2006/main" name="STM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ME PPT Template" id="{0F0D7AA8-361A-4F37-8516-0EFE3419025B}" vid="{8744BC16-5615-46D5-8B96-B46A56991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STME PPT Template</Template>
  <TotalTime>588</TotalTime>
  <Words>2894</Words>
  <Application>Microsoft Office PowerPoint</Application>
  <PresentationFormat>Widescreen</PresentationFormat>
  <Paragraphs>276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Narrow</vt:lpstr>
      <vt:lpstr>Book Antiqua</vt:lpstr>
      <vt:lpstr>Calibri</vt:lpstr>
      <vt:lpstr>Calibri Light</vt:lpstr>
      <vt:lpstr>Noto Sans Symbols</vt:lpstr>
      <vt:lpstr>STME Theme</vt:lpstr>
      <vt:lpstr>B.Tech. Artificial Intelligence &amp; Data Science Final Presentation (Sem VII) A.Y. 2026–2027 Project Title: VERITAS: Multi-Agent Deepfake Detection and Reasoning</vt:lpstr>
      <vt:lpstr>Roadmap</vt:lpstr>
      <vt:lpstr>INTRODUCTION AND MOTIVATION</vt:lpstr>
      <vt:lpstr>PROBLEM STATEMENT AND OBJECTIVES</vt:lpstr>
      <vt:lpstr>LITERATURE SURVEY</vt:lpstr>
      <vt:lpstr>PROPOSED SYSTEM ARCHITECTURE</vt:lpstr>
      <vt:lpstr>SPATIAL DETECTOR: EFFICIENTNET-B0</vt:lpstr>
      <vt:lpstr>TEMPORAL DETECTOR: R3D-18</vt:lpstr>
      <vt:lpstr>AUDIO DETECTOR AND CONTEXT COMPONENT</vt:lpstr>
      <vt:lpstr>DATA, FUSION AND VERDICT FLOW</vt:lpstr>
      <vt:lpstr>IMPLEMENTATION AND INTERFACE</vt:lpstr>
      <vt:lpstr>RESULTS AND ANALYSIS</vt:lpstr>
      <vt:lpstr>ROBUSTNESS, ERRORS AND LIMITATIONS</vt:lpstr>
      <vt:lpstr>CONCLUSION</vt:lpstr>
      <vt:lpstr>FUTURE SCOPE</vt:lpstr>
      <vt:lpstr>REFERENCES AND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Electrostatics</dc:title>
  <dc:creator>Divyang Jadav</dc:creator>
  <cp:lastModifiedBy>SIDDHANT PATIL - 70562100154</cp:lastModifiedBy>
  <cp:revision>192</cp:revision>
  <cp:lastPrinted>2019-07-19T07:29:11Z</cp:lastPrinted>
  <dcterms:created xsi:type="dcterms:W3CDTF">2019-09-30T10:49:12Z</dcterms:created>
  <dcterms:modified xsi:type="dcterms:W3CDTF">2026-10-24T02:22:31Z</dcterms:modified>
</cp:coreProperties>
</file>